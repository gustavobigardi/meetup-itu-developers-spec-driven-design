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6"/>
  </p:notesMasterIdLst>
  <p:sldIdLst>
    <p:sldId id="334" r:id="rId2"/>
    <p:sldId id="302" r:id="rId3"/>
    <p:sldId id="303" r:id="rId4"/>
    <p:sldId id="304" r:id="rId5"/>
    <p:sldId id="305" r:id="rId6"/>
    <p:sldId id="306" r:id="rId7"/>
    <p:sldId id="332" r:id="rId8"/>
    <p:sldId id="308" r:id="rId9"/>
    <p:sldId id="309" r:id="rId10"/>
    <p:sldId id="310" r:id="rId11"/>
    <p:sldId id="333" r:id="rId12"/>
    <p:sldId id="312" r:id="rId13"/>
    <p:sldId id="313" r:id="rId14"/>
    <p:sldId id="314" r:id="rId15"/>
    <p:sldId id="315" r:id="rId16"/>
    <p:sldId id="331" r:id="rId17"/>
    <p:sldId id="317" r:id="rId18"/>
    <p:sldId id="318" r:id="rId19"/>
    <p:sldId id="319" r:id="rId20"/>
    <p:sldId id="320" r:id="rId21"/>
    <p:sldId id="321" r:id="rId22"/>
    <p:sldId id="330" r:id="rId23"/>
    <p:sldId id="323" r:id="rId24"/>
    <p:sldId id="324" r:id="rId25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0"/>
    <p:restoredTop sz="94695"/>
  </p:normalViewPr>
  <p:slideViewPr>
    <p:cSldViewPr snapToGrid="0">
      <p:cViewPr varScale="1">
        <p:scale>
          <a:sx n="147" d="100"/>
          <a:sy n="147" d="100"/>
        </p:scale>
        <p:origin x="5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DFF9E-82BC-C146-B2F3-105859DE0F84}" type="datetimeFigureOut">
              <a:rPr lang="en-BR" smtClean="0"/>
              <a:t>13/05/26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848A17-40F7-5F46-94D7-3271CA0B555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209273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48A17-40F7-5F46-94D7-3271CA0B555B}" type="slidenum">
              <a:rPr lang="en-BR" smtClean="0"/>
              <a:t>16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38068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8C4D-7B1A-8BCB-888A-18CC7DD07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815B2-76A2-CA82-2C58-9EEACC403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32AC8-B196-15E8-3237-AEB12D889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100A-A244-574A-9A13-02E2487A8316}" type="datetimeFigureOut">
              <a:rPr lang="en-BR" smtClean="0"/>
              <a:t>13/05/26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DD52C-D94B-F849-5DEB-321799289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3A8CF-25BE-C903-BE31-6E477D85F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BF6D-BB16-9F43-818C-8626BBC8FC1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3280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0884B-6BC8-6931-A6D0-45FB6853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0F946-C856-C2BB-8C90-885C0B252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41B66-FC0C-665B-8284-3FD85628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100A-A244-574A-9A13-02E2487A8316}" type="datetimeFigureOut">
              <a:rPr lang="en-BR" smtClean="0"/>
              <a:t>13/05/26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6011A-011D-967D-0675-AB9BC5A4B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1FE30-EE97-FC32-24B0-87D51C64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BF6D-BB16-9F43-818C-8626BBC8FC1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1915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0444-F073-D6C4-DC7A-6D0B2D10B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67BE5-EEFF-1E74-5F10-C1F598055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4075E-4C2E-D0D1-4202-E48B3CA6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100A-A244-574A-9A13-02E2487A8316}" type="datetimeFigureOut">
              <a:rPr lang="en-BR" smtClean="0"/>
              <a:t>13/05/26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A46A6-FF80-A8CC-D92C-A9F57B61A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3896-335C-1F82-B378-3E57396B8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BF6D-BB16-9F43-818C-8626BBC8FC1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037208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3E5E5-28B3-B52D-8ABD-04343CD7E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A4973-38C0-8C7F-BBB3-541270DAE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CC108-8203-6227-DCEF-1D11CC1FC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86F06-B73F-F518-B509-6FCD36D4C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100A-A244-574A-9A13-02E2487A8316}" type="datetimeFigureOut">
              <a:rPr lang="en-BR" smtClean="0"/>
              <a:t>13/05/26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5E92F-2366-A2E1-B5D5-2835A8DE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CAD02-D896-0057-976F-19B7FC23D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BF6D-BB16-9F43-818C-8626BBC8FC1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9044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20AD4-787F-C3F7-4658-1CA0F8E1C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68D92-EA5B-EEEA-5C7D-6C6E51213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8B116-C7ED-AEEF-C5BD-266B15364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0E7E3D-D40E-CE54-B82C-A2D15E95F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1FCEA5-33A1-01DA-78D0-07882ADC8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9EDDF-3D13-FF73-D347-002F2BD37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100A-A244-574A-9A13-02E2487A8316}" type="datetimeFigureOut">
              <a:rPr lang="en-BR" smtClean="0"/>
              <a:t>13/05/26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A6DC3-170A-A2EF-ED2D-A00E64C38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386A5-21D2-72DE-88BA-F053EA2F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BF6D-BB16-9F43-818C-8626BBC8FC1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6537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FF13-05D9-1856-55FB-FDF5E8AEE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76B7A-69A5-B482-835D-C8EABB85C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100A-A244-574A-9A13-02E2487A8316}" type="datetimeFigureOut">
              <a:rPr lang="en-BR" smtClean="0"/>
              <a:t>13/05/26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CB4A42-E53E-C0AB-5AB6-DE2AA1CE4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D04E0-9C02-ADF9-26D3-E74D78095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BF6D-BB16-9F43-818C-8626BBC8FC1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75062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F2A948-2600-BD52-86EF-6D751FD60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100A-A244-574A-9A13-02E2487A8316}" type="datetimeFigureOut">
              <a:rPr lang="en-BR" smtClean="0"/>
              <a:t>13/05/26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14D5B3-EF5D-7644-DCB9-9F90AEB84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10372-831C-8101-937C-0B0421515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BF6D-BB16-9F43-818C-8626BBC8FC1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4255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52384-FB9B-99EC-EB2E-F6786759E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75F39-492A-63EC-139A-E9704FED9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99392-ED51-061C-22B0-232D8F6B7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67B0C-E7A1-EDC9-9004-859CED708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100A-A244-574A-9A13-02E2487A8316}" type="datetimeFigureOut">
              <a:rPr lang="en-BR" smtClean="0"/>
              <a:t>13/05/26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12D3F-5BB3-D1BC-6D6E-AA441A7F7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0B24C-19C7-6CB9-0A71-158A0A26F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BF6D-BB16-9F43-818C-8626BBC8FC1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4532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B46E-E0EE-6119-1307-DA140FDF7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8C6843-C237-1350-F01C-24051F1FAD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3824E-84EC-1581-6619-7CE5F0807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FE936-FEAD-9751-F92A-D105756B1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100A-A244-574A-9A13-02E2487A8316}" type="datetimeFigureOut">
              <a:rPr lang="en-BR" smtClean="0"/>
              <a:t>13/05/26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66817-97B7-AA46-8E07-C003FBAA7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7B24C-1B4C-A842-1057-AD2F39E0F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BF6D-BB16-9F43-818C-8626BBC8FC1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76078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CC9B4-DA8E-7E12-0165-8AE4171C1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2F3BA5-CC49-7635-9546-9D12986B6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09EB2-0E3E-A7E0-5316-F110DF6A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100A-A244-574A-9A13-02E2487A8316}" type="datetimeFigureOut">
              <a:rPr lang="en-BR" smtClean="0"/>
              <a:t>13/05/26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D6755-C2D5-856F-A6C7-BA7A91182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46930-257B-0E5E-D154-C66C41D8B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BF6D-BB16-9F43-818C-8626BBC8FC1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2724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A5D195-B710-B453-78AC-FF180415C1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72422-B2D3-8C07-D609-3C08D081F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5D815-EFA8-DABA-C15A-63A7BC641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100A-A244-574A-9A13-02E2487A8316}" type="datetimeFigureOut">
              <a:rPr lang="en-BR" smtClean="0"/>
              <a:t>13/05/26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A940D-5494-1912-8A3A-E7F5EE7F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4ACDF-0B2E-69F3-729F-342A81A5F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BF6D-BB16-9F43-818C-8626BBC8FC1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9570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A1F8E"/>
            </a:gs>
            <a:gs pos="100000">
              <a:srgbClr val="2E105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6A3A54-58C7-EED0-EF98-1CE25EF21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B2082-7A39-8AA5-CDB3-F00663F3C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B7A59-6055-3F54-703B-7412F6733C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0100A-A244-574A-9A13-02E2487A8316}" type="datetimeFigureOut">
              <a:rPr lang="en-BR" smtClean="0"/>
              <a:t>13/05/26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2347B-6460-0549-48C2-7E09A2AC4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921B9-2FD9-359E-4B8C-65F15C934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8BF6D-BB16-9F43-818C-8626BBC8FC11}" type="slidenum">
              <a:rPr lang="en-BR" smtClean="0"/>
              <a:t>‹#›</a:t>
            </a:fld>
            <a:endParaRPr lang="en-BR"/>
          </a:p>
        </p:txBody>
      </p:sp>
      <p:sp>
        <p:nvSpPr>
          <p:cNvPr id="901" name="ItuDevFooter"/>
          <p:cNvSpPr txBox="1"/>
          <p:nvPr userDrawn="1"/>
        </p:nvSpPr>
        <p:spPr>
          <a:xfrm>
            <a:off x="9652000" y="6540500"/>
            <a:ext cx="2286000" cy="254000"/>
          </a:xfrm>
          <a:prstGeom prst="rect">
            <a:avLst/>
          </a:prstGeom>
          <a:noFill/>
        </p:spPr>
        <p:txBody>
          <a:bodyPr wrap="none" lIns="0" tIns="0" rIns="91440" bIns="0" anchor="ctr"/>
          <a:lstStyle/>
          <a:p>
            <a:pPr algn="r">
              <a:buNone/>
            </a:pPr>
            <a:r>
              <a:rPr lang="pt-BR" sz="900" b="0" dirty="0">
                <a:solidFill>
                  <a:srgbClr val="B794E6"/>
                </a:solidFill>
                <a:latin typeface="Segoe UI"/>
              </a:rPr>
              <a:t>ItuDevelopers</a:t>
            </a:r>
            <a:r>
              <a:rPr lang="pt-BR" sz="700" baseline="30000" dirty="0">
                <a:solidFill>
                  <a:srgbClr val="B794E6"/>
                </a:solidFill>
                <a:latin typeface="Segoe UI"/>
              </a:rPr>
              <a:t>®</a:t>
            </a:r>
          </a:p>
        </p:txBody>
      </p:sp>
    </p:spTree>
    <p:extLst>
      <p:ext uri="{BB962C8B-B14F-4D97-AF65-F5344CB8AC3E}">
        <p14:creationId xmlns:p14="http://schemas.microsoft.com/office/powerpoint/2010/main" val="701215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verPanel">
            <a:extLst>
              <a:ext uri="{FF2B5EF4-FFF2-40B4-BE49-F238E27FC236}">
                <a16:creationId xmlns:a16="http://schemas.microsoft.com/office/drawing/2014/main" id="{F377115B-DCC1-A14E-A4C1-8372A636BD9D}"/>
              </a:ext>
            </a:extLst>
          </p:cNvPr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0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D92BAF-9589-EB44-85E3-3D40C01700AD}"/>
              </a:ext>
            </a:extLst>
          </p:cNvPr>
          <p:cNvSpPr txBox="1"/>
          <p:nvPr/>
        </p:nvSpPr>
        <p:spPr>
          <a:xfrm>
            <a:off x="5080000" y="2540000"/>
            <a:ext cx="660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400" b="1">
                <a:solidFill>
                  <a:srgbClr val="FFFFFF"/>
                </a:solidFill>
                <a:latin typeface="Segoe UI"/>
                <a:cs typeface="Segoe UI"/>
              </a:rPr>
              <a:t>Spec Driven Design</a:t>
            </a:r>
            <a:endParaRPr lang="en-BR" sz="44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38915-65E9-B14A-9184-BDE07093EB7C}"/>
              </a:ext>
            </a:extLst>
          </p:cNvPr>
          <p:cNvSpPr txBox="1"/>
          <p:nvPr/>
        </p:nvSpPr>
        <p:spPr>
          <a:xfrm>
            <a:off x="5080000" y="3429000"/>
            <a:ext cx="660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>
                <a:solidFill>
                  <a:srgbClr val="E6DDF5"/>
                </a:solidFill>
                <a:latin typeface="Segoe UI"/>
                <a:cs typeface="Segoe UI"/>
              </a:rPr>
              <a:t>Deixe a Spec Guiar o Código — e o Copilot</a:t>
            </a:r>
            <a:endParaRPr lang="en-BR" sz="2000">
              <a:solidFill>
                <a:srgbClr val="E6DDF5"/>
              </a:solidFill>
              <a:latin typeface="Segoe UI"/>
              <a:cs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75C7F4-0DAA-674B-A8D1-F5E39FFFA2D8}"/>
              </a:ext>
            </a:extLst>
          </p:cNvPr>
          <p:cNvSpPr/>
          <p:nvPr/>
        </p:nvSpPr>
        <p:spPr>
          <a:xfrm>
            <a:off x="5080000" y="4191000"/>
            <a:ext cx="762000" cy="38100"/>
          </a:xfrm>
          <a:prstGeom prst="rect">
            <a:avLst/>
          </a:prstGeom>
          <a:solidFill>
            <a:srgbClr val="FFD1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FE4E4FC-AE10-624D-A8FC-F0AC374328BB}"/>
              </a:ext>
            </a:extLst>
          </p:cNvPr>
          <p:cNvSpPr/>
          <p:nvPr/>
        </p:nvSpPr>
        <p:spPr>
          <a:xfrm>
            <a:off x="5080000" y="4572000"/>
            <a:ext cx="1117600" cy="355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E1058"/>
                </a:solidFill>
                <a:latin typeface="Consolas"/>
                <a:cs typeface="Consolas"/>
              </a:rPr>
              <a:t>#OpenAPI</a:t>
            </a:r>
            <a:endParaRPr lang="en-BR" sz="1100" b="1">
              <a:solidFill>
                <a:srgbClr val="2E1058"/>
              </a:solidFill>
              <a:latin typeface="Consolas"/>
              <a:cs typeface="Consola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2DB8E94-4B63-CB4E-9CA6-7BF6BE3757C0}"/>
              </a:ext>
            </a:extLst>
          </p:cNvPr>
          <p:cNvSpPr/>
          <p:nvPr/>
        </p:nvSpPr>
        <p:spPr>
          <a:xfrm>
            <a:off x="6299200" y="4572000"/>
            <a:ext cx="1727200" cy="355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E1058"/>
                </a:solidFill>
                <a:latin typeface="Consolas"/>
                <a:cs typeface="Consolas"/>
              </a:rPr>
              <a:t>#GitHubCopilot</a:t>
            </a:r>
            <a:endParaRPr lang="en-BR" sz="1100" b="1">
              <a:solidFill>
                <a:srgbClr val="2E1058"/>
              </a:solidFill>
              <a:latin typeface="Consolas"/>
              <a:cs typeface="Consola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E15D56-FC9B-EB4A-9262-01B60190A6E8}"/>
              </a:ext>
            </a:extLst>
          </p:cNvPr>
          <p:cNvSpPr/>
          <p:nvPr/>
        </p:nvSpPr>
        <p:spPr>
          <a:xfrm>
            <a:off x="8128000" y="4572000"/>
            <a:ext cx="2032000" cy="355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E1058"/>
                </a:solidFill>
                <a:latin typeface="Consolas"/>
                <a:cs typeface="Consolas"/>
              </a:rPr>
              <a:t>#SpecDrivenDesign</a:t>
            </a:r>
            <a:endParaRPr lang="en-BR" sz="1100" b="1">
              <a:solidFill>
                <a:srgbClr val="2E1058"/>
              </a:solidFill>
              <a:latin typeface="Consolas"/>
              <a:cs typeface="Consola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AAC0A4D-4943-CA48-B8BA-2D60179056E6}"/>
              </a:ext>
            </a:extLst>
          </p:cNvPr>
          <p:cNvSpPr/>
          <p:nvPr/>
        </p:nvSpPr>
        <p:spPr>
          <a:xfrm>
            <a:off x="10261600" y="4572000"/>
            <a:ext cx="1016000" cy="355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2E1058"/>
                </a:solidFill>
                <a:latin typeface="Consolas"/>
                <a:cs typeface="Consolas"/>
              </a:rPr>
              <a:t>#dotnet</a:t>
            </a:r>
            <a:endParaRPr lang="en-BR" sz="1100" b="1">
              <a:solidFill>
                <a:srgbClr val="2E1058"/>
              </a:solidFill>
              <a:latin typeface="Consolas"/>
              <a:cs typeface="Consolas"/>
            </a:endParaRPr>
          </a:p>
        </p:txBody>
      </p:sp>
      <p:sp>
        <p:nvSpPr>
          <p:cNvPr id="15" name="CodeWatermark">
            <a:extLst>
              <a:ext uri="{FF2B5EF4-FFF2-40B4-BE49-F238E27FC236}">
                <a16:creationId xmlns:a16="http://schemas.microsoft.com/office/drawing/2014/main" id="{A0092204-6BF4-1145-9C1B-D442B27EBB7B}"/>
              </a:ext>
            </a:extLst>
          </p:cNvPr>
          <p:cNvSpPr txBox="1"/>
          <p:nvPr/>
        </p:nvSpPr>
        <p:spPr>
          <a:xfrm>
            <a:off x="254000" y="254000"/>
            <a:ext cx="4318000" cy="635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3D1C6E"/>
                </a:solidFill>
                <a:latin typeface="Consolas"/>
                <a:cs typeface="Consolas"/>
              </a:rPr>
              <a:t>openapi: 3.0.3
info:
  title: Events API
  version: 1.0.0
paths:
  /events:
    get:
      summary: list
      operationId:
        listEvents
      responses:
        '200':
          schema:
            $ref: '#/Event'
components:
  schemas:
    Event:
      type: object
      properties:
        id: string
        name: string</a:t>
            </a:r>
            <a:endParaRPr lang="en-BR" sz="1100">
              <a:solidFill>
                <a:srgbClr val="3D1C6E"/>
              </a:solidFill>
              <a:latin typeface="Consolas"/>
              <a:cs typeface="Consola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684F8E-302B-AF4B-ADB6-6F57F4E159D3}"/>
              </a:ext>
            </a:extLst>
          </p:cNvPr>
          <p:cNvSpPr txBox="1"/>
          <p:nvPr/>
        </p:nvSpPr>
        <p:spPr>
          <a:xfrm>
            <a:off x="5080000" y="59690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C9B8E0"/>
                </a:solidFill>
                <a:latin typeface="Segoe UI"/>
                <a:cs typeface="Segoe UI"/>
              </a:rPr>
              <a:t>Gustavo Bellini Bigardi  ·  CTO &amp; Consultor @ Clarus IT</a:t>
            </a:r>
            <a:endParaRPr lang="en-BR" sz="1300">
              <a:solidFill>
                <a:srgbClr val="C9B8E0"/>
              </a:solidFill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BAC9BF-3A08-DC4F-9F8A-4AE05BD5E8C3}"/>
              </a:ext>
            </a:extLst>
          </p:cNvPr>
          <p:cNvSpPr txBox="1"/>
          <p:nvPr/>
        </p:nvSpPr>
        <p:spPr>
          <a:xfrm>
            <a:off x="762000" y="2540000"/>
            <a:ext cx="3302000" cy="177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0" b="1">
                <a:solidFill>
                  <a:srgbClr val="B794E6"/>
                </a:solidFill>
                <a:latin typeface="Segoe UI"/>
                <a:cs typeface="Segoe UI"/>
              </a:rPr>
              <a:t>SDD</a:t>
            </a:r>
            <a:endParaRPr lang="en-BR" sz="11000" b="1">
              <a:solidFill>
                <a:srgbClr val="B794E6"/>
              </a:solidFill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0DC377-7C8D-F248-B2CA-DFDC0B5ACC40}"/>
              </a:ext>
            </a:extLst>
          </p:cNvPr>
          <p:cNvSpPr txBox="1"/>
          <p:nvPr/>
        </p:nvSpPr>
        <p:spPr>
          <a:xfrm>
            <a:off x="762000" y="20320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C9B8E0"/>
                </a:solidFill>
                <a:latin typeface="Segoe UI"/>
                <a:cs typeface="Segoe UI"/>
              </a:rPr>
              <a:t>12º MEETUP ITU DEVELOPERS  ·  11.10.2025</a:t>
            </a:r>
            <a:endParaRPr lang="en-BR" sz="1000" b="1" dirty="0">
              <a:solidFill>
                <a:srgbClr val="C9B8E0"/>
              </a:solidFill>
              <a:latin typeface="Segoe UI"/>
              <a:cs typeface="Segoe UI"/>
            </a:endParaRPr>
          </a:p>
        </p:txBody>
      </p:sp>
      <p:sp>
        <p:nvSpPr>
          <p:cNvPr id="2" name="CoverChevron0">
            <a:extLst>
              <a:ext uri="{FF2B5EF4-FFF2-40B4-BE49-F238E27FC236}">
                <a16:creationId xmlns:a16="http://schemas.microsoft.com/office/drawing/2014/main" id="{ADF50DD1-9489-AD4B-92C5-08E1A4CF8527}"/>
              </a:ext>
            </a:extLst>
          </p:cNvPr>
          <p:cNvSpPr/>
          <p:nvPr/>
        </p:nvSpPr>
        <p:spPr>
          <a:xfrm>
            <a:off x="10414000" y="381000"/>
            <a:ext cx="355600" cy="228600"/>
          </a:xfrm>
          <a:prstGeom prst="chevron">
            <a:avLst/>
          </a:prstGeom>
          <a:solidFill>
            <a:srgbClr val="B794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>
              <a:solidFill>
                <a:schemeClr val="tx1"/>
              </a:solidFill>
            </a:endParaRPr>
          </a:p>
        </p:txBody>
      </p:sp>
      <p:sp>
        <p:nvSpPr>
          <p:cNvPr id="3" name="CoverChevron1">
            <a:extLst>
              <a:ext uri="{FF2B5EF4-FFF2-40B4-BE49-F238E27FC236}">
                <a16:creationId xmlns:a16="http://schemas.microsoft.com/office/drawing/2014/main" id="{31EB663D-E726-EA44-86DC-1199C2AD486A}"/>
              </a:ext>
            </a:extLst>
          </p:cNvPr>
          <p:cNvSpPr/>
          <p:nvPr/>
        </p:nvSpPr>
        <p:spPr>
          <a:xfrm>
            <a:off x="10693400" y="381000"/>
            <a:ext cx="355600" cy="228600"/>
          </a:xfrm>
          <a:prstGeom prst="chevron">
            <a:avLst/>
          </a:prstGeom>
          <a:solidFill>
            <a:srgbClr val="B794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>
              <a:solidFill>
                <a:schemeClr val="tx1"/>
              </a:solidFill>
            </a:endParaRPr>
          </a:p>
        </p:txBody>
      </p:sp>
      <p:sp>
        <p:nvSpPr>
          <p:cNvPr id="16" name="CoverChevron2">
            <a:extLst>
              <a:ext uri="{FF2B5EF4-FFF2-40B4-BE49-F238E27FC236}">
                <a16:creationId xmlns:a16="http://schemas.microsoft.com/office/drawing/2014/main" id="{CA71DF0C-FB0E-F54E-A664-EBC809364045}"/>
              </a:ext>
            </a:extLst>
          </p:cNvPr>
          <p:cNvSpPr/>
          <p:nvPr/>
        </p:nvSpPr>
        <p:spPr>
          <a:xfrm>
            <a:off x="10972800" y="381000"/>
            <a:ext cx="355600" cy="228600"/>
          </a:xfrm>
          <a:prstGeom prst="chevron">
            <a:avLst/>
          </a:prstGeom>
          <a:solidFill>
            <a:srgbClr val="B794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888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B75AC-1A3E-6848-B852-178FE1A89347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96EC8-8C46-9149-ABC0-5A49A80E20A2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Segoe UI"/>
                <a:cs typeface="Segoe UI"/>
              </a:rPr>
              <a:t>Quem sou eu?</a:t>
            </a:r>
            <a:endParaRPr lang="en-BR" sz="3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95F31-AEF1-D145-AAB4-2817D1A5A142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D03AC-9444-DC43-9848-116C51F117CD}"/>
              </a:ext>
            </a:extLst>
          </p:cNvPr>
          <p:cNvSpPr txBox="1"/>
          <p:nvPr/>
        </p:nvSpPr>
        <p:spPr>
          <a:xfrm>
            <a:off x="4826000" y="2159000"/>
            <a:ext cx="685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Segoe UI"/>
                <a:cs typeface="Segoe UI"/>
              </a:rPr>
              <a:t>Gustavo Bellini Bigardi</a:t>
            </a:r>
            <a:endParaRPr lang="en-BR" sz="28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D48DC-4A4C-5D43-99E8-5CFF07B74FB3}"/>
              </a:ext>
            </a:extLst>
          </p:cNvPr>
          <p:cNvSpPr txBox="1"/>
          <p:nvPr/>
        </p:nvSpPr>
        <p:spPr>
          <a:xfrm>
            <a:off x="4826000" y="2692400"/>
            <a:ext cx="685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D166"/>
                </a:solidFill>
                <a:latin typeface="Segoe UI"/>
                <a:cs typeface="Segoe UI"/>
              </a:rPr>
              <a:t>CTO &amp; Consultor  ·  Clarus IT</a:t>
            </a:r>
            <a:endParaRPr lang="en-BR" sz="1700" b="1">
              <a:solidFill>
                <a:srgbClr val="FFD166"/>
              </a:solidFill>
              <a:latin typeface="Segoe UI"/>
              <a:cs typeface="Segoe UI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E2135B6-69BC-9B44-9BCD-28271D080DEE}"/>
              </a:ext>
            </a:extLst>
          </p:cNvPr>
          <p:cNvSpPr/>
          <p:nvPr/>
        </p:nvSpPr>
        <p:spPr>
          <a:xfrm>
            <a:off x="4826000" y="3200400"/>
            <a:ext cx="6858000" cy="914400"/>
          </a:xfrm>
          <a:prstGeom prst="roundRect">
            <a:avLst/>
          </a:prstGeom>
          <a:solidFill>
            <a:srgbClr val="5B2C9E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294CA6-E2BE-A24F-8137-64D0767ADDC3}"/>
              </a:ext>
            </a:extLst>
          </p:cNvPr>
          <p:cNvSpPr txBox="1"/>
          <p:nvPr/>
        </p:nvSpPr>
        <p:spPr>
          <a:xfrm>
            <a:off x="5029200" y="3327400"/>
            <a:ext cx="64516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about.me/gbbigardi
github.com/gustavobigardi</a:t>
            </a:r>
            <a:endParaRPr lang="en-BR" sz="1500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79A296-DA71-EB4C-BC7C-494D3CA8F2E8}"/>
              </a:ext>
            </a:extLst>
          </p:cNvPr>
          <p:cNvSpPr txBox="1"/>
          <p:nvPr/>
        </p:nvSpPr>
        <p:spPr>
          <a:xfrm>
            <a:off x="4826000" y="4419600"/>
            <a:ext cx="685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C9B8E0"/>
                </a:solidFill>
                <a:latin typeface="Segoe UI"/>
                <a:cs typeface="Segoe UI"/>
              </a:rPr>
              <a:t>Vamos falar sobre</a:t>
            </a:r>
            <a:endParaRPr lang="en-BR" sz="1300" b="1">
              <a:solidFill>
                <a:srgbClr val="C9B8E0"/>
              </a:solidFill>
              <a:latin typeface="Segoe UI"/>
              <a:cs typeface="Segoe UI"/>
            </a:endParaRPr>
          </a:p>
        </p:txBody>
      </p:sp>
      <p:sp>
        <p:nvSpPr>
          <p:cNvPr id="10" name="AgendaList">
            <a:extLst>
              <a:ext uri="{FF2B5EF4-FFF2-40B4-BE49-F238E27FC236}">
                <a16:creationId xmlns:a16="http://schemas.microsoft.com/office/drawing/2014/main" id="{2232A859-C673-CB41-A6EA-B5A116BA045E}"/>
              </a:ext>
            </a:extLst>
          </p:cNvPr>
          <p:cNvSpPr txBox="1"/>
          <p:nvPr/>
        </p:nvSpPr>
        <p:spPr>
          <a:xfrm>
            <a:off x="4826000" y="4749800"/>
            <a:ext cx="6858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lnSpc>
                <a:spcPts val="22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▸"/>
            </a:pPr>
            <a:r>
              <a:rPr lang="pt-BR" sz="1500" dirty="0">
                <a:solidFill>
                  <a:srgbClr val="FFFFFF"/>
                </a:solidFill>
                <a:latin typeface="Segoe UI"/>
              </a:rPr>
              <a:t>O problema de desenvolver sem especificação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▸"/>
            </a:pPr>
            <a:r>
              <a:rPr lang="pt-BR" sz="1500" dirty="0">
                <a:solidFill>
                  <a:srgbClr val="FFFFFF"/>
                </a:solidFill>
                <a:latin typeface="Segoe UI"/>
              </a:rPr>
              <a:t>O que é Spec Driven Design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▸"/>
            </a:pPr>
            <a:r>
              <a:rPr lang="pt-BR" sz="1500" dirty="0">
                <a:solidFill>
                  <a:srgbClr val="FFFFFF"/>
                </a:solidFill>
                <a:latin typeface="Segoe UI"/>
              </a:rPr>
              <a:t>Como isso multiplica a qualidade do GitHub Copilot</a:t>
            </a:r>
          </a:p>
          <a:p>
            <a:pPr marL="228600" indent="-228600">
              <a:lnSpc>
                <a:spcPts val="22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▸"/>
            </a:pPr>
            <a:r>
              <a:rPr lang="pt-BR" sz="1500" dirty="0">
                <a:solidFill>
                  <a:srgbClr val="FFFFFF"/>
                </a:solidFill>
                <a:latin typeface="Segoe UI"/>
              </a:rPr>
              <a:t>Demo ao vivo: spec → API C# .NET em tempo real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8402F3-5B62-BCB8-5AC0-956D06AFA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159000"/>
            <a:ext cx="3556000" cy="3556000"/>
          </a:xfrm>
          <a:prstGeom prst="roundRect">
            <a:avLst>
              <a:gd name="adj" fmla="val 12500"/>
            </a:avLst>
          </a:prstGeom>
        </p:spPr>
      </p:pic>
    </p:spTree>
    <p:extLst>
      <p:ext uri="{BB962C8B-B14F-4D97-AF65-F5344CB8AC3E}">
        <p14:creationId xmlns:p14="http://schemas.microsoft.com/office/powerpoint/2010/main" val="117717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28C9C1-95B0-F54F-ACE8-AEBA09B65BA0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6009B-C830-4742-B0E1-140DB3910515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Segoe UI"/>
                <a:cs typeface="Segoe UI"/>
              </a:rPr>
              <a:t>Levanta a mão...</a:t>
            </a:r>
            <a:endParaRPr lang="en-BR" sz="3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1BB4F5-BBE9-1C44-B25D-D2DD226329D7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E366ACC-F29A-FA40-841C-287646A689B5}"/>
              </a:ext>
            </a:extLst>
          </p:cNvPr>
          <p:cNvSpPr/>
          <p:nvPr/>
        </p:nvSpPr>
        <p:spPr>
          <a:xfrm>
            <a:off x="762000" y="2286000"/>
            <a:ext cx="5080000" cy="2286000"/>
          </a:xfrm>
          <a:prstGeom prst="roundRect">
            <a:avLst/>
          </a:prstGeom>
          <a:solidFill>
            <a:srgbClr val="5B2C9E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l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FD459F-096F-CA4F-9FEC-9467B249C5AF}"/>
              </a:ext>
            </a:extLst>
          </p:cNvPr>
          <p:cNvSpPr txBox="1"/>
          <p:nvPr/>
        </p:nvSpPr>
        <p:spPr>
          <a:xfrm>
            <a:off x="1016000" y="3111500"/>
            <a:ext cx="76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BR" sz="4400" dirty="0"/>
              <a:t>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7B69D7-6F56-9B46-90C1-B3BD4DC790A6}"/>
              </a:ext>
            </a:extLst>
          </p:cNvPr>
          <p:cNvSpPr txBox="1"/>
          <p:nvPr/>
        </p:nvSpPr>
        <p:spPr>
          <a:xfrm>
            <a:off x="1905000" y="2667000"/>
            <a:ext cx="3683000" cy="1651000"/>
          </a:xfrm>
          <a:prstGeom prst="rect">
            <a:avLst/>
          </a:prstGeom>
          <a:noFill/>
        </p:spPr>
        <p:txBody>
          <a:bodyPr vertOverflow="overflow" vert="horz" wrap="square" rtlCol="0" anchor="ctr">
            <a:no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  <a:latin typeface="Segoe UI"/>
                <a:cs typeface="Segoe UI"/>
              </a:rPr>
              <a:t>Quem </a:t>
            </a:r>
            <a:r>
              <a:rPr lang="en-US" dirty="0" err="1">
                <a:solidFill>
                  <a:srgbClr val="FFFFFF"/>
                </a:solidFill>
                <a:latin typeface="Segoe UI"/>
                <a:cs typeface="Segoe UI"/>
              </a:rPr>
              <a:t>já</a:t>
            </a:r>
            <a:r>
              <a:rPr lang="en-US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Segoe UI"/>
                <a:cs typeface="Segoe UI"/>
              </a:rPr>
              <a:t>precisou</a:t>
            </a:r>
            <a:r>
              <a:rPr lang="en-US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Segoe UI"/>
                <a:cs typeface="Segoe UI"/>
              </a:rPr>
              <a:t>integrar</a:t>
            </a:r>
            <a:r>
              <a:rPr lang="en-US" dirty="0">
                <a:solidFill>
                  <a:srgbClr val="FFFFFF"/>
                </a:solidFill>
                <a:latin typeface="Segoe UI"/>
                <a:cs typeface="Segoe UI"/>
              </a:rPr>
              <a:t> com </a:t>
            </a:r>
            <a:r>
              <a:rPr lang="en-US" dirty="0" err="1">
                <a:solidFill>
                  <a:srgbClr val="FFFFFF"/>
                </a:solidFill>
                <a:latin typeface="Segoe UI"/>
                <a:cs typeface="Segoe UI"/>
              </a:rPr>
              <a:t>uma</a:t>
            </a:r>
            <a:r>
              <a:rPr lang="en-US" dirty="0">
                <a:solidFill>
                  <a:srgbClr val="FFFFFF"/>
                </a:solidFill>
                <a:latin typeface="Segoe UI"/>
                <a:cs typeface="Segoe UI"/>
              </a:rPr>
              <a:t> API </a:t>
            </a:r>
            <a:r>
              <a:rPr lang="en-US" dirty="0" err="1">
                <a:solidFill>
                  <a:srgbClr val="FFFFFF"/>
                </a:solidFill>
                <a:latin typeface="Segoe UI"/>
                <a:cs typeface="Segoe UI"/>
              </a:rPr>
              <a:t>sem</a:t>
            </a:r>
            <a:r>
              <a:rPr lang="en-US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Segoe UI"/>
                <a:cs typeface="Segoe UI"/>
              </a:rPr>
              <a:t>documentação</a:t>
            </a:r>
            <a:r>
              <a:rPr lang="en-US" dirty="0">
                <a:solidFill>
                  <a:srgbClr val="FFFFFF"/>
                </a:solidFill>
                <a:latin typeface="Segoe UI"/>
                <a:cs typeface="Segoe UI"/>
              </a:rPr>
              <a:t>?</a:t>
            </a:r>
            <a:endParaRPr lang="en-BR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59C1D16-6594-3341-B6C3-B2426095E941}"/>
              </a:ext>
            </a:extLst>
          </p:cNvPr>
          <p:cNvSpPr/>
          <p:nvPr/>
        </p:nvSpPr>
        <p:spPr>
          <a:xfrm>
            <a:off x="6350000" y="2286000"/>
            <a:ext cx="5080000" cy="2286000"/>
          </a:xfrm>
          <a:prstGeom prst="roundRect">
            <a:avLst/>
          </a:prstGeom>
          <a:solidFill>
            <a:srgbClr val="5B2C9E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4EE6DA-3E38-6F45-A9EA-C9586AF908FA}"/>
              </a:ext>
            </a:extLst>
          </p:cNvPr>
          <p:cNvSpPr txBox="1"/>
          <p:nvPr/>
        </p:nvSpPr>
        <p:spPr>
          <a:xfrm>
            <a:off x="6604000" y="3111500"/>
            <a:ext cx="76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BR" sz="4400" dirty="0"/>
              <a:t>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CA6D2E-C2AE-4B40-B772-C395E8CA27F1}"/>
              </a:ext>
            </a:extLst>
          </p:cNvPr>
          <p:cNvSpPr txBox="1"/>
          <p:nvPr/>
        </p:nvSpPr>
        <p:spPr>
          <a:xfrm>
            <a:off x="7493000" y="2667000"/>
            <a:ext cx="3683000" cy="1651000"/>
          </a:xfrm>
          <a:prstGeom prst="rect">
            <a:avLst/>
          </a:prstGeom>
          <a:noFill/>
        </p:spPr>
        <p:txBody>
          <a:bodyPr vertOverflow="overflow" vert="horz" wrap="square" rtlCol="0" anchor="ctr">
            <a:noAutofit/>
          </a:bodyPr>
          <a:lstStyle/>
          <a:p>
            <a:pPr algn="l"/>
            <a:r>
              <a:rPr lang="en-US">
                <a:solidFill>
                  <a:srgbClr val="FFFFFF"/>
                </a:solidFill>
                <a:latin typeface="Segoe UI"/>
                <a:cs typeface="Segoe UI"/>
              </a:rPr>
              <a:t>Quem já foi responsável por essa API sem documentação?</a:t>
            </a:r>
            <a:endParaRPr lang="en-BR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24FE4F-E770-E341-80AC-AB0292BCDBC2}"/>
              </a:ext>
            </a:extLst>
          </p:cNvPr>
          <p:cNvSpPr txBox="1"/>
          <p:nvPr/>
        </p:nvSpPr>
        <p:spPr>
          <a:xfrm>
            <a:off x="508000" y="60960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B8A2D9"/>
                </a:solidFill>
              </a:rPr>
              <a:t>(Sério, levanta mesmo)</a:t>
            </a:r>
            <a:endParaRPr lang="en-BR" sz="1400" i="1">
              <a:solidFill>
                <a:srgbClr val="B8A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23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54EA42-CE04-E542-A451-BCD9F619412A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385D8B-AE83-D347-9E14-8182C3B5EF0B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Segoe UI"/>
                <a:cs typeface="Segoe UI"/>
              </a:rPr>
              <a:t>A </a:t>
            </a:r>
            <a:r>
              <a:rPr lang="en-US" sz="3600" b="1" dirty="0" err="1">
                <a:solidFill>
                  <a:srgbClr val="FFFFFF"/>
                </a:solidFill>
                <a:latin typeface="Segoe UI"/>
                <a:cs typeface="Segoe UI"/>
              </a:rPr>
              <a:t>história</a:t>
            </a:r>
            <a:r>
              <a:rPr lang="en-US" sz="3600" b="1" dirty="0">
                <a:solidFill>
                  <a:srgbClr val="FFFFFF"/>
                </a:solidFill>
                <a:latin typeface="Segoe UI"/>
                <a:cs typeface="Segoe UI"/>
              </a:rPr>
              <a:t> de sempre…</a:t>
            </a:r>
            <a:endParaRPr lang="en-BR" sz="3600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DE48EB-AFCA-6340-B830-7769A736755A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799FA-02E2-8D40-9938-A5729A26D3A2}"/>
              </a:ext>
            </a:extLst>
          </p:cNvPr>
          <p:cNvSpPr txBox="1"/>
          <p:nvPr/>
        </p:nvSpPr>
        <p:spPr>
          <a:xfrm>
            <a:off x="508000" y="2159000"/>
            <a:ext cx="520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BR" sz="3200" b="1">
                <a:solidFill>
                  <a:srgbClr val="FFFFFF"/>
                </a:solidFill>
                <a:latin typeface="Segoe UI"/>
                <a:cs typeface="Segoe UI"/>
              </a:rPr>
              <a:t>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DCFEAB-489B-7645-82D6-03C7C831654E}"/>
              </a:ext>
            </a:extLst>
          </p:cNvPr>
          <p:cNvSpPr txBox="1"/>
          <p:nvPr/>
        </p:nvSpPr>
        <p:spPr>
          <a:xfrm>
            <a:off x="508000" y="2641600"/>
            <a:ext cx="520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B8E0"/>
                </a:solidFill>
                <a:latin typeface="Segoe UI"/>
                <a:cs typeface="Segoe UI"/>
              </a:rPr>
              <a:t>engenheiros</a:t>
            </a:r>
            <a:endParaRPr lang="en-BR" sz="1400">
              <a:solidFill>
                <a:srgbClr val="C9B8E0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FD56D0-1F82-1446-8B55-F6E0051CC98B}"/>
              </a:ext>
            </a:extLst>
          </p:cNvPr>
          <p:cNvSpPr txBox="1"/>
          <p:nvPr/>
        </p:nvSpPr>
        <p:spPr>
          <a:xfrm>
            <a:off x="508000" y="3048000"/>
            <a:ext cx="520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BR" sz="3200" b="1">
                <a:solidFill>
                  <a:srgbClr val="FFFFFF"/>
                </a:solidFill>
                <a:latin typeface="Segoe UI"/>
                <a:cs typeface="Segoe UI"/>
              </a:rPr>
              <a:t>30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8523D-4950-C144-AC42-E1D15828DD0C}"/>
              </a:ext>
            </a:extLst>
          </p:cNvPr>
          <p:cNvSpPr txBox="1"/>
          <p:nvPr/>
        </p:nvSpPr>
        <p:spPr>
          <a:xfrm>
            <a:off x="508000" y="3530600"/>
            <a:ext cx="520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B8E0"/>
                </a:solidFill>
                <a:latin typeface="Segoe UI"/>
                <a:cs typeface="Segoe UI"/>
              </a:rPr>
              <a:t>APIs internas</a:t>
            </a:r>
            <a:endParaRPr lang="en-BR" sz="1400">
              <a:solidFill>
                <a:srgbClr val="C9B8E0"/>
              </a:solidFill>
              <a:latin typeface="Segoe UI"/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1089E5-367C-184C-9AE2-0B2851827C98}"/>
              </a:ext>
            </a:extLst>
          </p:cNvPr>
          <p:cNvSpPr txBox="1"/>
          <p:nvPr/>
        </p:nvSpPr>
        <p:spPr>
          <a:xfrm>
            <a:off x="508000" y="3937000"/>
            <a:ext cx="520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BR" sz="3200" b="1">
                <a:solidFill>
                  <a:srgbClr val="FFFFFF"/>
                </a:solidFill>
                <a:latin typeface="Segoe UI"/>
                <a:cs typeface="Segoe UI"/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2CD07F-049C-A846-8B99-0192AB5FEB97}"/>
              </a:ext>
            </a:extLst>
          </p:cNvPr>
          <p:cNvSpPr txBox="1"/>
          <p:nvPr/>
        </p:nvSpPr>
        <p:spPr>
          <a:xfrm>
            <a:off x="508000" y="4419600"/>
            <a:ext cx="520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B8E0"/>
                </a:solidFill>
                <a:latin typeface="Segoe UI"/>
                <a:cs typeface="Segoe UI"/>
              </a:rPr>
              <a:t>documentação</a:t>
            </a:r>
            <a:endParaRPr lang="en-BR" sz="1400">
              <a:solidFill>
                <a:srgbClr val="C9B8E0"/>
              </a:solidFill>
              <a:latin typeface="Segoe UI"/>
              <a:cs typeface="Segoe UI"/>
            </a:endParaRPr>
          </a:p>
        </p:txBody>
      </p:sp>
      <p:sp>
        <p:nvSpPr>
          <p:cNvPr id="11" name="WeWorkBullets">
            <a:extLst>
              <a:ext uri="{FF2B5EF4-FFF2-40B4-BE49-F238E27FC236}">
                <a16:creationId xmlns:a16="http://schemas.microsoft.com/office/drawing/2014/main" id="{CE82538F-A89F-E643-93CE-F5261954ADE3}"/>
              </a:ext>
            </a:extLst>
          </p:cNvPr>
          <p:cNvSpPr txBox="1"/>
          <p:nvPr/>
        </p:nvSpPr>
        <p:spPr>
          <a:xfrm>
            <a:off x="508000" y="5080000"/>
            <a:ext cx="5207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lnSpc>
                <a:spcPts val="2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▸"/>
            </a:pPr>
            <a:r>
              <a:rPr lang="pt-BR" sz="1500" dirty="0">
                <a:solidFill>
                  <a:srgbClr val="FFFFFF"/>
                </a:solidFill>
                <a:latin typeface="Segoe UI"/>
              </a:rPr>
              <a:t>Times reconstruindo endpoints do zero</a:t>
            </a:r>
          </a:p>
          <a:p>
            <a:pPr marL="228600" indent="-228600">
              <a:lnSpc>
                <a:spcPts val="2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▸"/>
            </a:pPr>
            <a:r>
              <a:rPr lang="pt-BR" sz="1500" dirty="0">
                <a:solidFill>
                  <a:srgbClr val="FFFFFF"/>
                </a:solidFill>
                <a:latin typeface="Segoe UI"/>
              </a:rPr>
              <a:t>Reuniões para descobrir "o que essa API retorna"</a:t>
            </a:r>
          </a:p>
          <a:p>
            <a:pPr marL="228600" indent="-228600">
              <a:lnSpc>
                <a:spcPts val="2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▸"/>
            </a:pPr>
            <a:r>
              <a:rPr lang="pt-BR" sz="1500" dirty="0">
                <a:solidFill>
                  <a:srgbClr val="FFFFFF"/>
                </a:solidFill>
                <a:latin typeface="Segoe UI"/>
              </a:rPr>
              <a:t>Integrações quebrando silenciosamente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B5E6FD5-11EA-B54C-B394-93504B6B7261}"/>
              </a:ext>
            </a:extLst>
          </p:cNvPr>
          <p:cNvSpPr/>
          <p:nvPr/>
        </p:nvSpPr>
        <p:spPr>
          <a:xfrm>
            <a:off x="6350000" y="2159000"/>
            <a:ext cx="5334000" cy="2286000"/>
          </a:xfrm>
          <a:prstGeom prst="roundRect">
            <a:avLst/>
          </a:prstGeom>
          <a:solidFill>
            <a:srgbClr val="5B2C9E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2E77F2-3977-5544-9DEC-B2DF51185081}"/>
              </a:ext>
            </a:extLst>
          </p:cNvPr>
          <p:cNvSpPr txBox="1"/>
          <p:nvPr/>
        </p:nvSpPr>
        <p:spPr>
          <a:xfrm>
            <a:off x="6604000" y="2476500"/>
            <a:ext cx="4826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i="1">
                <a:solidFill>
                  <a:srgbClr val="FFFFFF"/>
                </a:solidFill>
                <a:latin typeface="Segoe UI"/>
                <a:cs typeface="Segoe UI"/>
              </a:rPr>
              <a:t>"Isso é um extremo. Mas quem aqui nunca trabalhou com uma API que mudou sem aviso?"</a:t>
            </a:r>
            <a:endParaRPr lang="en-BR" sz="1600" i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5" name="WeWorkConcl">
            <a:extLst>
              <a:ext uri="{FF2B5EF4-FFF2-40B4-BE49-F238E27FC236}">
                <a16:creationId xmlns:a16="http://schemas.microsoft.com/office/drawing/2014/main" id="{1361EB2E-0ED0-5343-B600-F8EDC2215C57}"/>
              </a:ext>
            </a:extLst>
          </p:cNvPr>
          <p:cNvSpPr txBox="1"/>
          <p:nvPr/>
        </p:nvSpPr>
        <p:spPr>
          <a:xfrm>
            <a:off x="6350000" y="4699000"/>
            <a:ext cx="5334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pt-BR" sz="1600" b="1" dirty="0">
                <a:solidFill>
                  <a:srgbClr val="FFD166"/>
                </a:solidFill>
                <a:latin typeface="Segoe UI"/>
              </a:rPr>
              <a:t>O problema não é preguiça.</a:t>
            </a:r>
          </a:p>
          <a:p>
            <a:pPr>
              <a:lnSpc>
                <a:spcPts val="2000"/>
              </a:lnSpc>
              <a:spcBef>
                <a:spcPts val="300"/>
              </a:spcBef>
              <a:buNone/>
            </a:pPr>
            <a:r>
              <a:rPr lang="pt-BR" sz="1500" dirty="0">
                <a:solidFill>
                  <a:srgbClr val="E6DDF5"/>
                </a:solidFill>
                <a:latin typeface="Segoe UI"/>
              </a:rPr>
              <a:t>O processo não está configurado para manter spec e código </a:t>
            </a:r>
            <a:r>
              <a:rPr lang="pt-BR" sz="1500" b="1" dirty="0">
                <a:solidFill>
                  <a:srgbClr val="FFFFFF"/>
                </a:solidFill>
                <a:latin typeface="Segoe UI"/>
              </a:rPr>
              <a:t>juntos</a:t>
            </a:r>
            <a:r>
              <a:rPr lang="pt-BR" sz="1500" dirty="0">
                <a:solidFill>
                  <a:srgbClr val="E6DDF5"/>
                </a:solidFill>
                <a:latin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2571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3DC966-B0D1-7B4B-9650-5634A0182B3A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3834E-B505-CA43-B372-3B56C06CA466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Segoe UI"/>
                <a:cs typeface="Segoe UI"/>
              </a:rPr>
              <a:t>Os 4 Padrões de Desenvolvimento de API</a:t>
            </a:r>
            <a:endParaRPr lang="en-BR" sz="32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2751A4-12F5-0F47-8282-573F6ECE5137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7C136F-5417-0F41-A487-E2B45DE90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440980"/>
              </p:ext>
            </p:extLst>
          </p:nvPr>
        </p:nvGraphicFramePr>
        <p:xfrm>
          <a:off x="508000" y="2032000"/>
          <a:ext cx="111760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75794943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62564733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21013546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BR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Padrão</a:t>
                      </a:r>
                    </a:p>
                  </a:txBody>
                  <a:tcPr anchor="ctr">
                    <a:solidFill>
                      <a:srgbClr val="2E10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BR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Como funciona</a:t>
                      </a:r>
                    </a:p>
                  </a:txBody>
                  <a:tcPr anchor="ctr">
                    <a:solidFill>
                      <a:srgbClr val="2E10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BR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Resultado</a:t>
                      </a:r>
                    </a:p>
                  </a:txBody>
                  <a:tcPr anchor="ctr">
                    <a:solidFill>
                      <a:srgbClr val="2E1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53064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BR" sz="13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❌ Code-first + "documento depois"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3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"A gente coloca no Swagger depois"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3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Depois não chega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76818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BR" sz="13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❌ Code-first + anotações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3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[SwaggerOperation] no código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3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Diverge com o tempo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39328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BR" sz="13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❌ Design-first → abandona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3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Spec no cloud, código no Git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3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Duas fontes de mentira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48661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BR" sz="13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✅ Design-first → evolui junto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3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Spec no mesmo repo que o código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3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Contrato real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439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042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DAD70F-1E2F-5842-A8EE-025EDF095693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B11B6-91C1-F040-8AF4-DF58EDCBDE79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Segoe UI"/>
                <a:cs typeface="Segoe UI"/>
              </a:rPr>
              <a:t>Duas Fontes de Mentira</a:t>
            </a:r>
            <a:endParaRPr lang="en-BR" sz="3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391CC4-0FA5-7A4B-AB33-E4EE87D66CB4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45A3F5-14BD-B74B-A8E5-5F61786A9C2D}"/>
              </a:ext>
            </a:extLst>
          </p:cNvPr>
          <p:cNvSpPr/>
          <p:nvPr/>
        </p:nvSpPr>
        <p:spPr>
          <a:xfrm>
            <a:off x="508000" y="2286000"/>
            <a:ext cx="4572000" cy="2540000"/>
          </a:xfrm>
          <a:prstGeom prst="roundRect">
            <a:avLst/>
          </a:prstGeom>
          <a:solidFill>
            <a:srgbClr val="5B2C9E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422C1-3CBA-6148-BBBD-876600713DD4}"/>
              </a:ext>
            </a:extLst>
          </p:cNvPr>
          <p:cNvSpPr txBox="1"/>
          <p:nvPr/>
        </p:nvSpPr>
        <p:spPr>
          <a:xfrm>
            <a:off x="2159000" y="2540000"/>
            <a:ext cx="127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BR" sz="5600" dirty="0"/>
              <a:t>☁️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7F7F51-04D9-7A4F-93B0-5CACDBF102D6}"/>
              </a:ext>
            </a:extLst>
          </p:cNvPr>
          <p:cNvSpPr txBox="1"/>
          <p:nvPr/>
        </p:nvSpPr>
        <p:spPr>
          <a:xfrm>
            <a:off x="762000" y="3683000"/>
            <a:ext cx="406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egoe UI"/>
                <a:cs typeface="Segoe UI"/>
              </a:rPr>
              <a:t>Spec</a:t>
            </a:r>
            <a:endParaRPr lang="en-BR" sz="20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ED5EC5-3662-AA4E-B416-7D2C76C3EC7B}"/>
              </a:ext>
            </a:extLst>
          </p:cNvPr>
          <p:cNvSpPr txBox="1"/>
          <p:nvPr/>
        </p:nvSpPr>
        <p:spPr>
          <a:xfrm>
            <a:off x="762000" y="4127500"/>
            <a:ext cx="406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i="1" dirty="0">
                <a:solidFill>
                  <a:srgbClr val="C9B8E0"/>
                </a:solidFill>
                <a:latin typeface="Segoe UI"/>
                <a:cs typeface="Segoe UI"/>
              </a:rPr>
              <a:t>Stoplight / </a:t>
            </a:r>
            <a:r>
              <a:rPr lang="en-US" sz="1400" i="1" dirty="0" err="1">
                <a:solidFill>
                  <a:srgbClr val="C9B8E0"/>
                </a:solidFill>
                <a:latin typeface="Segoe UI"/>
                <a:cs typeface="Segoe UI"/>
              </a:rPr>
              <a:t>SwaggerHub</a:t>
            </a:r>
            <a:r>
              <a:rPr lang="en-US" sz="1400" i="1" dirty="0">
                <a:solidFill>
                  <a:srgbClr val="C9B8E0"/>
                </a:solidFill>
                <a:latin typeface="Segoe UI"/>
                <a:cs typeface="Segoe UI"/>
              </a:rPr>
              <a:t> — </a:t>
            </a:r>
            <a:r>
              <a:rPr lang="en-US" sz="1400" i="1" dirty="0" err="1">
                <a:solidFill>
                  <a:srgbClr val="C9B8E0"/>
                </a:solidFill>
                <a:latin typeface="Segoe UI"/>
                <a:cs typeface="Segoe UI"/>
              </a:rPr>
              <a:t>desatualizada</a:t>
            </a:r>
            <a:endParaRPr lang="en-BR" sz="1400" i="1" dirty="0">
              <a:solidFill>
                <a:srgbClr val="C9B8E0"/>
              </a:solidFill>
              <a:latin typeface="Segoe UI"/>
              <a:cs typeface="Segoe U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81DB2F3-F83D-F24E-9AE3-B619AF7930B9}"/>
              </a:ext>
            </a:extLst>
          </p:cNvPr>
          <p:cNvSpPr/>
          <p:nvPr/>
        </p:nvSpPr>
        <p:spPr>
          <a:xfrm>
            <a:off x="7112000" y="2286000"/>
            <a:ext cx="4572000" cy="2540000"/>
          </a:xfrm>
          <a:prstGeom prst="roundRect">
            <a:avLst/>
          </a:prstGeom>
          <a:solidFill>
            <a:srgbClr val="5B2C9E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A0A31A-E3DD-004E-8EEC-046158ED36F5}"/>
              </a:ext>
            </a:extLst>
          </p:cNvPr>
          <p:cNvSpPr txBox="1"/>
          <p:nvPr/>
        </p:nvSpPr>
        <p:spPr>
          <a:xfrm>
            <a:off x="8763000" y="2540000"/>
            <a:ext cx="127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BR" sz="5600" dirty="0"/>
              <a:t>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DBA13F-08E7-A047-924B-8BD198CC04A0}"/>
              </a:ext>
            </a:extLst>
          </p:cNvPr>
          <p:cNvSpPr txBox="1"/>
          <p:nvPr/>
        </p:nvSpPr>
        <p:spPr>
          <a:xfrm>
            <a:off x="7366000" y="3683000"/>
            <a:ext cx="406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 dirty="0">
                <a:solidFill>
                  <a:srgbClr val="FFD166"/>
                </a:solidFill>
                <a:latin typeface="Segoe UI"/>
                <a:cs typeface="Segoe UI"/>
              </a:rPr>
              <a:t>Código</a:t>
            </a:r>
            <a:endParaRPr lang="en-BR" sz="2000" b="1" dirty="0">
              <a:solidFill>
                <a:srgbClr val="FFD166"/>
              </a:solidFill>
              <a:latin typeface="Segoe UI"/>
              <a:cs typeface="Segoe U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CD6290-F71F-124F-9D42-773CCCB4AB6F}"/>
              </a:ext>
            </a:extLst>
          </p:cNvPr>
          <p:cNvSpPr txBox="1"/>
          <p:nvPr/>
        </p:nvSpPr>
        <p:spPr>
          <a:xfrm>
            <a:off x="7366000" y="4127500"/>
            <a:ext cx="406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i="1">
                <a:solidFill>
                  <a:srgbClr val="C9B8E0"/>
                </a:solidFill>
                <a:latin typeface="Segoe UI"/>
                <a:cs typeface="Segoe UI"/>
              </a:rPr>
              <a:t>GitHub — foi além da spec há meses</a:t>
            </a:r>
            <a:endParaRPr lang="en-BR" sz="1400" i="1">
              <a:solidFill>
                <a:srgbClr val="C9B8E0"/>
              </a:solidFill>
              <a:latin typeface="Segoe UI"/>
              <a:cs typeface="Segoe U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400DF1-7465-4740-8888-07790DDC7688}"/>
              </a:ext>
            </a:extLst>
          </p:cNvPr>
          <p:cNvSpPr txBox="1"/>
          <p:nvPr/>
        </p:nvSpPr>
        <p:spPr>
          <a:xfrm>
            <a:off x="5080000" y="2540000"/>
            <a:ext cx="2032000" cy="165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BR" sz="13800" b="1" dirty="0">
                <a:solidFill>
                  <a:srgbClr val="CF222E"/>
                </a:solidFill>
                <a:latin typeface="Segoe UI"/>
                <a:cs typeface="Segoe UI"/>
              </a:rPr>
              <a:t>≠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3372914-48E5-2048-907E-3DA5B457B337}"/>
              </a:ext>
            </a:extLst>
          </p:cNvPr>
          <p:cNvSpPr/>
          <p:nvPr/>
        </p:nvSpPr>
        <p:spPr>
          <a:xfrm>
            <a:off x="508000" y="5143500"/>
            <a:ext cx="11176000" cy="1143000"/>
          </a:xfrm>
          <a:prstGeom prst="roundRect">
            <a:avLst/>
          </a:prstGeom>
          <a:solidFill>
            <a:srgbClr val="FFF8C5"/>
          </a:solidFill>
          <a:ln w="9525" cap="flat" cmpd="sng" algn="ctr">
            <a:solidFill>
              <a:srgbClr val="D4A72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6D2862-2F37-4249-A5BD-D092FF821FE4}"/>
              </a:ext>
            </a:extLst>
          </p:cNvPr>
          <p:cNvSpPr txBox="1"/>
          <p:nvPr/>
        </p:nvSpPr>
        <p:spPr>
          <a:xfrm>
            <a:off x="762000" y="53975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000" b="1" i="1" dirty="0">
                <a:solidFill>
                  <a:srgbClr val="5B4708"/>
                </a:solidFill>
                <a:latin typeface="Segoe UI"/>
                <a:cs typeface="Segoe UI"/>
              </a:rPr>
              <a:t>A spec </a:t>
            </a:r>
            <a:r>
              <a:rPr lang="en-US" sz="2000" b="1" i="1" dirty="0" err="1">
                <a:solidFill>
                  <a:srgbClr val="5B4708"/>
                </a:solidFill>
                <a:latin typeface="Segoe UI"/>
                <a:cs typeface="Segoe UI"/>
              </a:rPr>
              <a:t>que</a:t>
            </a:r>
            <a:r>
              <a:rPr lang="en-US" sz="2000" b="1" i="1" dirty="0">
                <a:solidFill>
                  <a:srgbClr val="5B4708"/>
                </a:solidFill>
                <a:latin typeface="Segoe UI"/>
                <a:cs typeface="Segoe UI"/>
              </a:rPr>
              <a:t> </a:t>
            </a:r>
            <a:r>
              <a:rPr lang="en-US" sz="2000" b="1" i="1" dirty="0" err="1">
                <a:solidFill>
                  <a:srgbClr val="5B4708"/>
                </a:solidFill>
                <a:latin typeface="Segoe UI"/>
                <a:cs typeface="Segoe UI"/>
              </a:rPr>
              <a:t>não</a:t>
            </a:r>
            <a:r>
              <a:rPr lang="en-US" sz="2000" b="1" i="1" dirty="0">
                <a:solidFill>
                  <a:srgbClr val="5B4708"/>
                </a:solidFill>
                <a:latin typeface="Segoe UI"/>
                <a:cs typeface="Segoe UI"/>
              </a:rPr>
              <a:t> </a:t>
            </a:r>
            <a:r>
              <a:rPr lang="en-US" sz="2000" b="1" i="1" dirty="0" err="1">
                <a:solidFill>
                  <a:srgbClr val="5B4708"/>
                </a:solidFill>
                <a:latin typeface="Segoe UI"/>
                <a:cs typeface="Segoe UI"/>
              </a:rPr>
              <a:t>reflete</a:t>
            </a:r>
            <a:r>
              <a:rPr lang="en-US" sz="2000" b="1" i="1" dirty="0">
                <a:solidFill>
                  <a:srgbClr val="5B4708"/>
                </a:solidFill>
                <a:latin typeface="Segoe UI"/>
                <a:cs typeface="Segoe UI"/>
              </a:rPr>
              <a:t> o </a:t>
            </a:r>
            <a:r>
              <a:rPr lang="en-US" sz="2000" b="1" i="1" dirty="0" err="1">
                <a:solidFill>
                  <a:srgbClr val="5B4708"/>
                </a:solidFill>
                <a:latin typeface="Segoe UI"/>
                <a:cs typeface="Segoe UI"/>
              </a:rPr>
              <a:t>código</a:t>
            </a:r>
            <a:r>
              <a:rPr lang="en-US" sz="2000" b="1" i="1" dirty="0">
                <a:solidFill>
                  <a:srgbClr val="5B4708"/>
                </a:solidFill>
                <a:latin typeface="Segoe UI"/>
                <a:cs typeface="Segoe UI"/>
              </a:rPr>
              <a:t> e o </a:t>
            </a:r>
            <a:r>
              <a:rPr lang="en-US" sz="2000" b="1" i="1" dirty="0" err="1">
                <a:solidFill>
                  <a:srgbClr val="5B4708"/>
                </a:solidFill>
                <a:latin typeface="Segoe UI"/>
                <a:cs typeface="Segoe UI"/>
              </a:rPr>
              <a:t>código</a:t>
            </a:r>
            <a:r>
              <a:rPr lang="en-US" sz="2000" b="1" i="1" dirty="0">
                <a:solidFill>
                  <a:srgbClr val="5B4708"/>
                </a:solidFill>
                <a:latin typeface="Segoe UI"/>
                <a:cs typeface="Segoe UI"/>
              </a:rPr>
              <a:t> </a:t>
            </a:r>
            <a:r>
              <a:rPr lang="en-US" sz="2000" b="1" i="1" dirty="0" err="1">
                <a:solidFill>
                  <a:srgbClr val="5B4708"/>
                </a:solidFill>
                <a:latin typeface="Segoe UI"/>
                <a:cs typeface="Segoe UI"/>
              </a:rPr>
              <a:t>que</a:t>
            </a:r>
            <a:r>
              <a:rPr lang="en-US" sz="2000" b="1" i="1" dirty="0">
                <a:solidFill>
                  <a:srgbClr val="5B4708"/>
                </a:solidFill>
                <a:latin typeface="Segoe UI"/>
                <a:cs typeface="Segoe UI"/>
              </a:rPr>
              <a:t> </a:t>
            </a:r>
            <a:r>
              <a:rPr lang="en-US" sz="2000" b="1" i="1" dirty="0" err="1">
                <a:solidFill>
                  <a:srgbClr val="5B4708"/>
                </a:solidFill>
                <a:latin typeface="Segoe UI"/>
                <a:cs typeface="Segoe UI"/>
              </a:rPr>
              <a:t>não</a:t>
            </a:r>
            <a:r>
              <a:rPr lang="en-US" sz="2000" b="1" i="1" dirty="0">
                <a:solidFill>
                  <a:srgbClr val="5B4708"/>
                </a:solidFill>
                <a:latin typeface="Segoe UI"/>
                <a:cs typeface="Segoe UI"/>
              </a:rPr>
              <a:t> </a:t>
            </a:r>
            <a:r>
              <a:rPr lang="en-US" sz="2000" b="1" i="1" dirty="0" err="1">
                <a:solidFill>
                  <a:srgbClr val="5B4708"/>
                </a:solidFill>
                <a:latin typeface="Segoe UI"/>
                <a:cs typeface="Segoe UI"/>
              </a:rPr>
              <a:t>reflete</a:t>
            </a:r>
            <a:r>
              <a:rPr lang="en-US" sz="2000" b="1" i="1" dirty="0">
                <a:solidFill>
                  <a:srgbClr val="5B4708"/>
                </a:solidFill>
                <a:latin typeface="Segoe UI"/>
                <a:cs typeface="Segoe UI"/>
              </a:rPr>
              <a:t> a spec — ambas </a:t>
            </a:r>
            <a:r>
              <a:rPr lang="en-US" sz="2000" b="1" i="1" dirty="0" err="1">
                <a:solidFill>
                  <a:srgbClr val="5B4708"/>
                </a:solidFill>
                <a:latin typeface="Segoe UI"/>
                <a:cs typeface="Segoe UI"/>
              </a:rPr>
              <a:t>são</a:t>
            </a:r>
            <a:r>
              <a:rPr lang="en-US" sz="2000" b="1" i="1" dirty="0">
                <a:solidFill>
                  <a:srgbClr val="5B4708"/>
                </a:solidFill>
                <a:latin typeface="Segoe UI"/>
                <a:cs typeface="Segoe UI"/>
              </a:rPr>
              <a:t> </a:t>
            </a:r>
            <a:r>
              <a:rPr lang="en-US" sz="2000" b="1" i="1" dirty="0" err="1">
                <a:solidFill>
                  <a:srgbClr val="5B4708"/>
                </a:solidFill>
                <a:latin typeface="Segoe UI"/>
                <a:cs typeface="Segoe UI"/>
              </a:rPr>
              <a:t>inúteis</a:t>
            </a:r>
            <a:r>
              <a:rPr lang="en-US" sz="2000" b="1" i="1" dirty="0">
                <a:solidFill>
                  <a:srgbClr val="5B4708"/>
                </a:solidFill>
                <a:latin typeface="Segoe UI"/>
                <a:cs typeface="Segoe UI"/>
              </a:rPr>
              <a:t>.</a:t>
            </a:r>
            <a:endParaRPr lang="en-BR" sz="2000" b="1" i="1" dirty="0">
              <a:solidFill>
                <a:srgbClr val="5B4708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563447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141DEB-E470-A84D-B35C-0A041A92292B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EBBBFD-DC75-8343-A6AB-BEFD9141D26D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Segoe UI"/>
                <a:cs typeface="Segoe UI"/>
              </a:rPr>
              <a:t>O que é Spec Driven Design?</a:t>
            </a:r>
            <a:endParaRPr lang="en-BR" sz="3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9BD55E-5014-0A4B-BE34-CFA782BD652D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B2785B1-8E5C-074F-9EE1-CC5FF1DAA399}"/>
              </a:ext>
            </a:extLst>
          </p:cNvPr>
          <p:cNvSpPr/>
          <p:nvPr/>
        </p:nvSpPr>
        <p:spPr>
          <a:xfrm>
            <a:off x="508000" y="2159000"/>
            <a:ext cx="11176000" cy="1651000"/>
          </a:xfrm>
          <a:prstGeom prst="roundRect">
            <a:avLst/>
          </a:prstGeom>
          <a:solidFill>
            <a:srgbClr val="5B2C9E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30D5D0-F505-A745-B208-249F1058D817}"/>
              </a:ext>
            </a:extLst>
          </p:cNvPr>
          <p:cNvSpPr/>
          <p:nvPr/>
        </p:nvSpPr>
        <p:spPr>
          <a:xfrm>
            <a:off x="508000" y="2159000"/>
            <a:ext cx="50800" cy="1651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7" name="DefQuote">
            <a:extLst>
              <a:ext uri="{FF2B5EF4-FFF2-40B4-BE49-F238E27FC236}">
                <a16:creationId xmlns:a16="http://schemas.microsoft.com/office/drawing/2014/main" id="{444D420A-5E00-754B-BFD8-757ED9B76CBC}"/>
              </a:ext>
            </a:extLst>
          </p:cNvPr>
          <p:cNvSpPr txBox="1"/>
          <p:nvPr/>
        </p:nvSpPr>
        <p:spPr>
          <a:xfrm>
            <a:off x="889000" y="2413000"/>
            <a:ext cx="10541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400"/>
              </a:lnSpc>
              <a:buNone/>
            </a:pPr>
            <a:r>
              <a:rPr lang="pt-BR" sz="1800" i="1" dirty="0">
                <a:solidFill>
                  <a:srgbClr val="E6DDF5"/>
                </a:solidFill>
                <a:latin typeface="Segoe UI"/>
              </a:rPr>
              <a:t>Uma especificação </a:t>
            </a:r>
            <a:r>
              <a:rPr lang="pt-BR" sz="1800" b="1" i="1" dirty="0">
                <a:solidFill>
                  <a:srgbClr val="FFD166"/>
                </a:solidFill>
                <a:latin typeface="Segoe UI"/>
              </a:rPr>
              <a:t>legível por máquina</a:t>
            </a:r>
            <a:r>
              <a:rPr lang="pt-BR" sz="1800" i="1" dirty="0">
                <a:solidFill>
                  <a:srgbClr val="E6DDF5"/>
                </a:solidFill>
                <a:latin typeface="Segoe UI"/>
              </a:rPr>
              <a:t> é criada </a:t>
            </a:r>
            <a:r>
              <a:rPr lang="pt-BR" sz="1800" b="1" i="1" dirty="0">
                <a:solidFill>
                  <a:srgbClr val="FFD166"/>
                </a:solidFill>
                <a:latin typeface="Segoe UI"/>
              </a:rPr>
              <a:t>antes</a:t>
            </a:r>
            <a:r>
              <a:rPr lang="pt-BR" sz="1800" i="1" dirty="0">
                <a:solidFill>
                  <a:srgbClr val="E6DDF5"/>
                </a:solidFill>
                <a:latin typeface="Segoe UI"/>
              </a:rPr>
              <a:t> de qualquer código. A spec se torna a </a:t>
            </a:r>
            <a:r>
              <a:rPr lang="pt-BR" sz="1800" b="1" i="1" dirty="0">
                <a:solidFill>
                  <a:srgbClr val="FFFFFF"/>
                </a:solidFill>
                <a:latin typeface="Segoe UI"/>
              </a:rPr>
              <a:t>fonte única da verdade</a:t>
            </a:r>
            <a:r>
              <a:rPr lang="pt-BR" sz="1800" i="1" dirty="0">
                <a:solidFill>
                  <a:srgbClr val="E6DDF5"/>
                </a:solidFill>
                <a:latin typeface="Segoe UI"/>
              </a:rPr>
              <a:t> da qual tudo é derivado.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5D775A1-53FF-FE42-BCAC-75DAC5824350}"/>
              </a:ext>
            </a:extLst>
          </p:cNvPr>
          <p:cNvSpPr/>
          <p:nvPr/>
        </p:nvSpPr>
        <p:spPr>
          <a:xfrm>
            <a:off x="508000" y="4318000"/>
            <a:ext cx="2133600" cy="2032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FA4BFC-E24A-0E49-B0F8-D816B2D4AA8A}"/>
              </a:ext>
            </a:extLst>
          </p:cNvPr>
          <p:cNvSpPr txBox="1"/>
          <p:nvPr/>
        </p:nvSpPr>
        <p:spPr>
          <a:xfrm>
            <a:off x="508000" y="4508500"/>
            <a:ext cx="2133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BR" sz="3200">
                <a:solidFill>
                  <a:srgbClr val="2E1058"/>
                </a:solidFill>
              </a:rPr>
              <a:t>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4CC098-FB9A-724A-859E-9254F5B577F7}"/>
              </a:ext>
            </a:extLst>
          </p:cNvPr>
          <p:cNvSpPr txBox="1"/>
          <p:nvPr/>
        </p:nvSpPr>
        <p:spPr>
          <a:xfrm>
            <a:off x="609600" y="5270500"/>
            <a:ext cx="1930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E1058"/>
                </a:solidFill>
                <a:latin typeface="Segoe UI"/>
                <a:cs typeface="Segoe UI"/>
              </a:rPr>
              <a:t>Endpoints</a:t>
            </a:r>
            <a:endParaRPr lang="en-BR" sz="1500" b="1">
              <a:solidFill>
                <a:srgbClr val="2E1058"/>
              </a:solidFill>
              <a:latin typeface="Segoe UI"/>
              <a:cs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B0D04B-2767-AE48-AD6D-C5FAC7F5CABB}"/>
              </a:ext>
            </a:extLst>
          </p:cNvPr>
          <p:cNvSpPr txBox="1"/>
          <p:nvPr/>
        </p:nvSpPr>
        <p:spPr>
          <a:xfrm>
            <a:off x="609600" y="5651500"/>
            <a:ext cx="1930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5B2C9E"/>
                </a:solidFill>
                <a:latin typeface="Segoe UI"/>
                <a:cs typeface="Segoe UI"/>
              </a:rPr>
              <a:t>e métodos HTTP</a:t>
            </a:r>
            <a:endParaRPr lang="en-BR" sz="1200">
              <a:solidFill>
                <a:srgbClr val="5B2C9E"/>
              </a:solidFill>
              <a:latin typeface="Segoe UI"/>
              <a:cs typeface="Segoe UI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4300E07-B4E9-A34A-BCE9-D65864A4F0F8}"/>
              </a:ext>
            </a:extLst>
          </p:cNvPr>
          <p:cNvSpPr/>
          <p:nvPr/>
        </p:nvSpPr>
        <p:spPr>
          <a:xfrm>
            <a:off x="2743200" y="4318000"/>
            <a:ext cx="2133600" cy="2032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0C74A1-EC97-824C-8C32-26356BEFCF8F}"/>
              </a:ext>
            </a:extLst>
          </p:cNvPr>
          <p:cNvSpPr txBox="1"/>
          <p:nvPr/>
        </p:nvSpPr>
        <p:spPr>
          <a:xfrm>
            <a:off x="2743200" y="4508500"/>
            <a:ext cx="2133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BR" sz="3200">
                <a:solidFill>
                  <a:srgbClr val="2E1058"/>
                </a:solidFill>
              </a:rPr>
              <a:t>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90B9FE-030F-8247-8702-7B4D84D25C0F}"/>
              </a:ext>
            </a:extLst>
          </p:cNvPr>
          <p:cNvSpPr txBox="1"/>
          <p:nvPr/>
        </p:nvSpPr>
        <p:spPr>
          <a:xfrm>
            <a:off x="2844800" y="5270500"/>
            <a:ext cx="1930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E1058"/>
                </a:solidFill>
                <a:latin typeface="Segoe UI"/>
                <a:cs typeface="Segoe UI"/>
              </a:rPr>
              <a:t>Schemas</a:t>
            </a:r>
            <a:endParaRPr lang="en-BR" sz="1500" b="1">
              <a:solidFill>
                <a:srgbClr val="2E1058"/>
              </a:solidFill>
              <a:latin typeface="Segoe UI"/>
              <a:cs typeface="Segoe U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A83EC6-9E4E-E04C-BD51-0AA144AF498F}"/>
              </a:ext>
            </a:extLst>
          </p:cNvPr>
          <p:cNvSpPr txBox="1"/>
          <p:nvPr/>
        </p:nvSpPr>
        <p:spPr>
          <a:xfrm>
            <a:off x="2844800" y="5651500"/>
            <a:ext cx="1930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5B2C9E"/>
                </a:solidFill>
                <a:latin typeface="Segoe UI"/>
                <a:cs typeface="Segoe UI"/>
              </a:rPr>
              <a:t>request e response</a:t>
            </a:r>
            <a:endParaRPr lang="en-BR" sz="1200">
              <a:solidFill>
                <a:srgbClr val="5B2C9E"/>
              </a:solidFill>
              <a:latin typeface="Segoe UI"/>
              <a:cs typeface="Segoe UI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B746012-E2D0-DD4D-A05C-AA506180D827}"/>
              </a:ext>
            </a:extLst>
          </p:cNvPr>
          <p:cNvSpPr/>
          <p:nvPr/>
        </p:nvSpPr>
        <p:spPr>
          <a:xfrm>
            <a:off x="4978400" y="4318000"/>
            <a:ext cx="2133600" cy="2032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478181-864C-7441-AC7E-CF6AF7E23EA1}"/>
              </a:ext>
            </a:extLst>
          </p:cNvPr>
          <p:cNvSpPr txBox="1"/>
          <p:nvPr/>
        </p:nvSpPr>
        <p:spPr>
          <a:xfrm>
            <a:off x="4978400" y="4508500"/>
            <a:ext cx="2133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BR" sz="3200">
                <a:solidFill>
                  <a:srgbClr val="2E1058"/>
                </a:solidFill>
              </a:rPr>
              <a:t>🔒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F5693B-3BDC-FA42-8F5C-B6B6F563F185}"/>
              </a:ext>
            </a:extLst>
          </p:cNvPr>
          <p:cNvSpPr txBox="1"/>
          <p:nvPr/>
        </p:nvSpPr>
        <p:spPr>
          <a:xfrm>
            <a:off x="5080000" y="5270500"/>
            <a:ext cx="1930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E1058"/>
                </a:solidFill>
                <a:latin typeface="Segoe UI"/>
                <a:cs typeface="Segoe UI"/>
              </a:rPr>
              <a:t>Autenticação</a:t>
            </a:r>
            <a:endParaRPr lang="en-BR" sz="1500" b="1">
              <a:solidFill>
                <a:srgbClr val="2E1058"/>
              </a:solidFill>
              <a:latin typeface="Segoe UI"/>
              <a:cs typeface="Segoe U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BC62D7-9A5C-A241-A6B1-45C1327DC99C}"/>
              </a:ext>
            </a:extLst>
          </p:cNvPr>
          <p:cNvSpPr txBox="1"/>
          <p:nvPr/>
        </p:nvSpPr>
        <p:spPr>
          <a:xfrm>
            <a:off x="5080000" y="5651500"/>
            <a:ext cx="1930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BR" sz="1200">
              <a:solidFill>
                <a:srgbClr val="5B2C9E"/>
              </a:solidFill>
              <a:latin typeface="Segoe UI"/>
              <a:cs typeface="Segoe UI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3296684-BA18-834C-AC84-688F0D68FDF3}"/>
              </a:ext>
            </a:extLst>
          </p:cNvPr>
          <p:cNvSpPr/>
          <p:nvPr/>
        </p:nvSpPr>
        <p:spPr>
          <a:xfrm>
            <a:off x="7213600" y="4318000"/>
            <a:ext cx="2133600" cy="2032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A36DA4-EAE9-6045-8C43-D906D1049D19}"/>
              </a:ext>
            </a:extLst>
          </p:cNvPr>
          <p:cNvSpPr txBox="1"/>
          <p:nvPr/>
        </p:nvSpPr>
        <p:spPr>
          <a:xfrm>
            <a:off x="7213600" y="4508500"/>
            <a:ext cx="2133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BR" sz="3200">
                <a:solidFill>
                  <a:srgbClr val="2E1058"/>
                </a:solidFill>
              </a:rPr>
              <a:t>⚠️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74941A-0FA2-D04F-A73A-F260EA2A5324}"/>
              </a:ext>
            </a:extLst>
          </p:cNvPr>
          <p:cNvSpPr txBox="1"/>
          <p:nvPr/>
        </p:nvSpPr>
        <p:spPr>
          <a:xfrm>
            <a:off x="7315200" y="5270500"/>
            <a:ext cx="1930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E1058"/>
                </a:solidFill>
                <a:latin typeface="Segoe UI"/>
                <a:cs typeface="Segoe UI"/>
              </a:rPr>
              <a:t>Erros</a:t>
            </a:r>
            <a:endParaRPr lang="en-BR" sz="1500" b="1">
              <a:solidFill>
                <a:srgbClr val="2E1058"/>
              </a:solidFill>
              <a:latin typeface="Segoe UI"/>
              <a:cs typeface="Segoe U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8CD3DC-80CA-DB4A-893A-D8F25BA9A73B}"/>
              </a:ext>
            </a:extLst>
          </p:cNvPr>
          <p:cNvSpPr txBox="1"/>
          <p:nvPr/>
        </p:nvSpPr>
        <p:spPr>
          <a:xfrm>
            <a:off x="7315200" y="5651500"/>
            <a:ext cx="1930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5B2C9E"/>
                </a:solidFill>
                <a:latin typeface="Segoe UI"/>
                <a:cs typeface="Segoe UI"/>
              </a:rPr>
              <a:t>respostas tipadas</a:t>
            </a:r>
            <a:endParaRPr lang="en-BR" sz="1200">
              <a:solidFill>
                <a:srgbClr val="5B2C9E"/>
              </a:solidFill>
              <a:latin typeface="Segoe UI"/>
              <a:cs typeface="Segoe UI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87F8D26-3AAA-C145-83D0-C4219A426BF1}"/>
              </a:ext>
            </a:extLst>
          </p:cNvPr>
          <p:cNvSpPr/>
          <p:nvPr/>
        </p:nvSpPr>
        <p:spPr>
          <a:xfrm>
            <a:off x="9448800" y="4318000"/>
            <a:ext cx="2133600" cy="2032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73C693-B901-4B4B-AA7C-461E9EF5FB88}"/>
              </a:ext>
            </a:extLst>
          </p:cNvPr>
          <p:cNvSpPr txBox="1"/>
          <p:nvPr/>
        </p:nvSpPr>
        <p:spPr>
          <a:xfrm>
            <a:off x="9448800" y="4508500"/>
            <a:ext cx="2133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BR" sz="3200">
                <a:solidFill>
                  <a:srgbClr val="2E1058"/>
                </a:solidFill>
              </a:rPr>
              <a:t>📋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D15884-98EA-BB45-B5DD-50C3D0DA7EB4}"/>
              </a:ext>
            </a:extLst>
          </p:cNvPr>
          <p:cNvSpPr txBox="1"/>
          <p:nvPr/>
        </p:nvSpPr>
        <p:spPr>
          <a:xfrm>
            <a:off x="9550400" y="5270500"/>
            <a:ext cx="1930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E1058"/>
                </a:solidFill>
                <a:latin typeface="Segoe UI"/>
                <a:cs typeface="Segoe UI"/>
              </a:rPr>
              <a:t>Exemplos</a:t>
            </a:r>
            <a:endParaRPr lang="en-BR" sz="1500" b="1">
              <a:solidFill>
                <a:srgbClr val="2E1058"/>
              </a:solidFill>
              <a:latin typeface="Segoe UI"/>
              <a:cs typeface="Segoe U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280127-5279-704D-AD74-D10DE0E86A52}"/>
              </a:ext>
            </a:extLst>
          </p:cNvPr>
          <p:cNvSpPr txBox="1"/>
          <p:nvPr/>
        </p:nvSpPr>
        <p:spPr>
          <a:xfrm>
            <a:off x="9550400" y="5651500"/>
            <a:ext cx="1930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5B2C9E"/>
                </a:solidFill>
                <a:latin typeface="Segoe UI"/>
                <a:cs typeface="Segoe UI"/>
              </a:rPr>
              <a:t>de dados reais</a:t>
            </a:r>
            <a:endParaRPr lang="en-BR" sz="1200">
              <a:solidFill>
                <a:srgbClr val="5B2C9E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99860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02E25D-52BA-3349-ABD1-7BF9A05248E7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24124D-CBCD-8E4D-AF3D-C88150E60853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Segoe UI"/>
                <a:cs typeface="Segoe UI"/>
              </a:rPr>
              <a:t>OpenAPI — A Linguagem da Spec</a:t>
            </a:r>
            <a:endParaRPr lang="en-BR" sz="32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A12C47-A96B-3048-A1F3-442CC9092447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5991459-E24E-1B4E-98A9-2FA34E03AD10}"/>
              </a:ext>
            </a:extLst>
          </p:cNvPr>
          <p:cNvSpPr/>
          <p:nvPr/>
        </p:nvSpPr>
        <p:spPr>
          <a:xfrm>
            <a:off x="508000" y="2159000"/>
            <a:ext cx="11176000" cy="3937000"/>
          </a:xfrm>
          <a:prstGeom prst="roundRect">
            <a:avLst/>
          </a:prstGeom>
          <a:solidFill>
            <a:srgbClr val="1A0830"/>
          </a:solidFill>
          <a:ln w="9525" cap="flat" cmpd="sng" algn="ctr">
            <a:solidFill>
              <a:srgbClr val="6B3FB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F83A11-5C67-0D4A-8F75-B4F1D797A33E}"/>
              </a:ext>
            </a:extLst>
          </p:cNvPr>
          <p:cNvSpPr txBox="1"/>
          <p:nvPr/>
        </p:nvSpPr>
        <p:spPr>
          <a:xfrm>
            <a:off x="762000" y="2286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BR" sz="1100" b="1">
                <a:solidFill>
                  <a:srgbClr val="B8A2D9"/>
                </a:solidFill>
                <a:latin typeface="Segoe UI"/>
                <a:cs typeface="Segoe UI"/>
              </a:rPr>
              <a:t>📄 </a:t>
            </a:r>
            <a:r>
              <a:rPr lang="en-US" sz="1100" b="1">
                <a:solidFill>
                  <a:srgbClr val="B8A2D9"/>
                </a:solidFill>
                <a:latin typeface="Segoe UI"/>
                <a:cs typeface="Segoe UI"/>
              </a:rPr>
              <a:t>openapi.yaml</a:t>
            </a:r>
            <a:endParaRPr lang="en-BR" sz="1100" b="1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7" name="CodeBlock">
            <a:extLst>
              <a:ext uri="{FF2B5EF4-FFF2-40B4-BE49-F238E27FC236}">
                <a16:creationId xmlns:a16="http://schemas.microsoft.com/office/drawing/2014/main" id="{C3C4A10B-5C21-6D48-AFA8-02C7C9E309B6}"/>
              </a:ext>
            </a:extLst>
          </p:cNvPr>
          <p:cNvSpPr txBox="1"/>
          <p:nvPr/>
        </p:nvSpPr>
        <p:spPr>
          <a:xfrm>
            <a:off x="762000" y="2667000"/>
            <a:ext cx="10668000" cy="342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/>
              </a:rPr>
              <a:t>openapi:</a:t>
            </a:r>
            <a:r>
              <a:rPr lang="en-US" sz="1400" dirty="0">
                <a:solidFill>
                  <a:srgbClr val="A5D6FF"/>
                </a:solidFill>
                <a:latin typeface="Consolas"/>
              </a:rPr>
              <a:t> 3.0.3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/>
              </a:rPr>
              <a:t>info: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79C0FF"/>
                </a:solidFill>
                <a:latin typeface="Consolas"/>
              </a:rPr>
              <a:t>title:</a:t>
            </a:r>
            <a:r>
              <a:rPr lang="en-US" sz="1400" dirty="0">
                <a:solidFill>
                  <a:srgbClr val="A5D6FF"/>
                </a:solidFill>
                <a:latin typeface="Consolas"/>
              </a:rPr>
              <a:t> Meetup Events API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79C0FF"/>
                </a:solidFill>
                <a:latin typeface="Consolas"/>
              </a:rPr>
              <a:t>version:</a:t>
            </a:r>
            <a:r>
              <a:rPr lang="en-US" sz="1400" dirty="0">
                <a:solidFill>
                  <a:srgbClr val="A5D6FF"/>
                </a:solidFill>
                <a:latin typeface="Consolas"/>
              </a:rPr>
              <a:t> 1.0.0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/>
              </a:rPr>
              <a:t>paths: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79C0FF"/>
                </a:solidFill>
                <a:latin typeface="Consolas"/>
              </a:rPr>
              <a:t>/events: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79C0FF"/>
                </a:solidFill>
                <a:latin typeface="Consolas"/>
              </a:rPr>
              <a:t>get: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79C0FF"/>
                </a:solidFill>
                <a:latin typeface="Consolas"/>
              </a:rPr>
              <a:t>summary:</a:t>
            </a:r>
            <a:r>
              <a:rPr lang="en-US" sz="1400" dirty="0">
                <a:solidFill>
                  <a:srgbClr val="A5D6FF"/>
                </a:solidFill>
                <a:latin typeface="Consolas"/>
              </a:rPr>
              <a:t> Lista todos os eventos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79C0FF"/>
                </a:solidFill>
                <a:latin typeface="Consolas"/>
              </a:rPr>
              <a:t>operationId:</a:t>
            </a:r>
            <a:r>
              <a:rPr lang="en-US" sz="1400" dirty="0">
                <a:solidFill>
                  <a:srgbClr val="A5D6FF"/>
                </a:solidFill>
                <a:latin typeface="Consolas"/>
              </a:rPr>
              <a:t> listEvents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/>
              </a:rPr>
              <a:t>      </a:t>
            </a:r>
            <a:r>
              <a:rPr lang="en-US" sz="1400" dirty="0">
                <a:solidFill>
                  <a:srgbClr val="79C0FF"/>
                </a:solidFill>
                <a:latin typeface="Consolas"/>
              </a:rPr>
              <a:t>responses: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/>
              </a:rPr>
              <a:t>        </a:t>
            </a:r>
            <a:r>
              <a:rPr lang="en-US" sz="1400" dirty="0">
                <a:solidFill>
                  <a:srgbClr val="79C0FF"/>
                </a:solidFill>
                <a:latin typeface="Consolas"/>
              </a:rPr>
              <a:t>'200':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/>
              </a:rPr>
              <a:t>          </a:t>
            </a:r>
            <a:r>
              <a:rPr lang="en-US" sz="1400" dirty="0">
                <a:solidFill>
                  <a:srgbClr val="79C0FF"/>
                </a:solidFill>
                <a:latin typeface="Consolas"/>
              </a:rPr>
              <a:t>schema:</a:t>
            </a:r>
          </a:p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/>
              </a:rPr>
              <a:t>            </a:t>
            </a:r>
            <a:r>
              <a:rPr lang="en-US" sz="1400" dirty="0">
                <a:solidFill>
                  <a:srgbClr val="79C0FF"/>
                </a:solidFill>
                <a:latin typeface="Consolas"/>
              </a:rPr>
              <a:t>$ref:</a:t>
            </a:r>
            <a:r>
              <a:rPr lang="en-US" sz="1400" dirty="0">
                <a:solidFill>
                  <a:srgbClr val="FFA657"/>
                </a:solidFill>
                <a:latin typeface="Consolas"/>
              </a:rPr>
              <a:t> '#/components/schemas/Event'</a:t>
            </a:r>
          </a:p>
        </p:txBody>
      </p:sp>
      <p:sp>
        <p:nvSpPr>
          <p:cNvPr id="8" name="YamlCaption">
            <a:extLst>
              <a:ext uri="{FF2B5EF4-FFF2-40B4-BE49-F238E27FC236}">
                <a16:creationId xmlns:a16="http://schemas.microsoft.com/office/drawing/2014/main" id="{967800BF-C448-E447-BBF6-F4DD3D8361B3}"/>
              </a:ext>
            </a:extLst>
          </p:cNvPr>
          <p:cNvSpPr txBox="1"/>
          <p:nvPr/>
        </p:nvSpPr>
        <p:spPr>
          <a:xfrm>
            <a:off x="508000" y="6350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000"/>
              </a:lnSpc>
              <a:buNone/>
            </a:pPr>
            <a:r>
              <a:rPr lang="pt-BR" sz="1500" dirty="0">
                <a:solidFill>
                  <a:srgbClr val="E6DDF5"/>
                </a:solidFill>
                <a:latin typeface="Segoe UI"/>
              </a:rPr>
              <a:t>Um arquivo YAML (ou JSON) no seu repositório Git. </a:t>
            </a:r>
            <a:r>
              <a:rPr lang="pt-BR" sz="1500" b="1" dirty="0">
                <a:solidFill>
                  <a:srgbClr val="FFD166"/>
                </a:solidFill>
                <a:latin typeface="Segoe UI"/>
              </a:rPr>
              <a:t>É código. Tem review. Tem versão.</a:t>
            </a:r>
          </a:p>
        </p:txBody>
      </p:sp>
    </p:spTree>
    <p:extLst>
      <p:ext uri="{BB962C8B-B14F-4D97-AF65-F5344CB8AC3E}">
        <p14:creationId xmlns:p14="http://schemas.microsoft.com/office/powerpoint/2010/main" val="302411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1C01AB-82B3-0046-839C-3870DD17375B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BA30E-DEDC-524B-BF53-1BCAFCB136BF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Segoe UI"/>
                <a:cs typeface="Segoe UI"/>
              </a:rPr>
              <a:t>Uma Spec → Muitas Ferramentas</a:t>
            </a:r>
            <a:endParaRPr lang="en-BR" sz="34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0226AB-5254-2349-9D9B-750AE862E6AC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D05112-44A9-EC4B-B4C1-46F3F0C6A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099623"/>
              </p:ext>
            </p:extLst>
          </p:nvPr>
        </p:nvGraphicFramePr>
        <p:xfrm>
          <a:off x="508000" y="2032000"/>
          <a:ext cx="11176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0">
                  <a:extLst>
                    <a:ext uri="{9D8B030D-6E8A-4147-A177-3AD203B41FA5}">
                      <a16:colId xmlns:a16="http://schemas.microsoft.com/office/drawing/2014/main" val="3750393754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9270200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975967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BR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O que você ganha</a:t>
                      </a:r>
                    </a:p>
                  </a:txBody>
                  <a:tcPr anchor="ctr">
                    <a:solidFill>
                      <a:srgbClr val="2E10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BR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Ferramenta</a:t>
                      </a:r>
                    </a:p>
                  </a:txBody>
                  <a:tcPr anchor="ctr">
                    <a:solidFill>
                      <a:srgbClr val="2E1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Custo</a:t>
                      </a:r>
                    </a:p>
                  </a:txBody>
                  <a:tcPr anchor="ctr">
                    <a:solidFill>
                      <a:srgbClr val="2E1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18455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📄  Documentação interativa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Swagger UI · Redoc · Scalar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Grátis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02709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🎭  Mock server imediato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Stoplight Prism · Mockoon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Grátis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74298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✅  Testes de contrato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Dredd · Specmatic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Grátis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5701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🔧  Geração de código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OpenAPI Generator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Grátis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05721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🔍  Linting / qualidade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Spectral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Grátis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09203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0B1C4AD-2DF2-A642-97CB-6924274359EA}"/>
              </a:ext>
            </a:extLst>
          </p:cNvPr>
          <p:cNvSpPr/>
          <p:nvPr/>
        </p:nvSpPr>
        <p:spPr>
          <a:xfrm>
            <a:off x="508000" y="5842000"/>
            <a:ext cx="11176000" cy="762000"/>
          </a:xfrm>
          <a:prstGeom prst="roundRect">
            <a:avLst/>
          </a:prstGeom>
          <a:solidFill>
            <a:srgbClr val="DDF4FF"/>
          </a:solidFill>
          <a:ln w="9525" cap="flat" cmpd="sng" algn="ctr">
            <a:solidFill>
              <a:srgbClr val="54AE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8" name="ToolsCallout">
            <a:extLst>
              <a:ext uri="{FF2B5EF4-FFF2-40B4-BE49-F238E27FC236}">
                <a16:creationId xmlns:a16="http://schemas.microsoft.com/office/drawing/2014/main" id="{402ED0D1-370D-1F4B-9C2B-A6B2AD0A7A59}"/>
              </a:ext>
            </a:extLst>
          </p:cNvPr>
          <p:cNvSpPr txBox="1"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ctr">
            <a:noAutofit/>
          </a:bodyPr>
          <a:lstStyle/>
          <a:p>
            <a:pPr algn="ctr">
              <a:buNone/>
            </a:pPr>
            <a:r>
              <a:rPr lang="pt-BR" sz="2000" dirty="0">
                <a:solidFill>
                  <a:srgbClr val="0A3069"/>
                </a:solidFill>
                <a:latin typeface="Segoe UI"/>
              </a:rPr>
              <a:t>Escreva o YAML </a:t>
            </a:r>
            <a:r>
              <a:rPr lang="pt-BR" sz="2000" b="1" dirty="0">
                <a:solidFill>
                  <a:schemeClr val="bg1"/>
                </a:solidFill>
                <a:latin typeface="Segoe UI"/>
              </a:rPr>
              <a:t>uma vez</a:t>
            </a:r>
            <a:r>
              <a:rPr lang="pt-BR" sz="2000" dirty="0">
                <a:solidFill>
                  <a:srgbClr val="0A3069"/>
                </a:solidFill>
                <a:latin typeface="Segoe UI"/>
              </a:rPr>
              <a:t>. Ganhe tudo isso </a:t>
            </a:r>
            <a:r>
              <a:rPr lang="pt-BR" sz="2000" b="1" dirty="0">
                <a:solidFill>
                  <a:schemeClr val="bg1"/>
                </a:solidFill>
                <a:latin typeface="Segoe UI"/>
              </a:rPr>
              <a:t>automaticamente</a:t>
            </a:r>
            <a:r>
              <a:rPr lang="pt-BR" sz="2000" dirty="0">
                <a:solidFill>
                  <a:srgbClr val="0A3069"/>
                </a:solidFill>
                <a:latin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5750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9170B4-0B62-AA4A-BC74-8B6F7C471838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C7EFF-2D53-D743-B915-2C62BE6AD1C1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Segoe UI"/>
                <a:cs typeface="Segoe UI"/>
              </a:rPr>
              <a:t>SDD, TDD e BDD — Irmãos de Filosofia</a:t>
            </a:r>
            <a:endParaRPr lang="en-BR" sz="30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2CD73F-FAF8-514E-8A06-15DC62989F3C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9FEC03-7F0E-9A49-9CD6-ADC494A58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41736"/>
              </p:ext>
            </p:extLst>
          </p:nvPr>
        </p:nvGraphicFramePr>
        <p:xfrm>
          <a:off x="508000" y="2032000"/>
          <a:ext cx="11176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227690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09796822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901673813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27394221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BR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Metodologia</a:t>
                      </a:r>
                    </a:p>
                  </a:txBody>
                  <a:tcPr anchor="ctr">
                    <a:solidFill>
                      <a:srgbClr val="2E10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BR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Especificação</a:t>
                      </a:r>
                    </a:p>
                  </a:txBody>
                  <a:tcPr anchor="ctr">
                    <a:solidFill>
                      <a:srgbClr val="2E10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BR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Quando</a:t>
                      </a:r>
                    </a:p>
                  </a:txBody>
                  <a:tcPr anchor="ctr">
                    <a:solidFill>
                      <a:srgbClr val="2E10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BR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Audiência</a:t>
                      </a:r>
                    </a:p>
                  </a:txBody>
                  <a:tcPr anchor="ctr">
                    <a:solidFill>
                      <a:srgbClr val="2E1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92657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BR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TDD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Testes unitários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Antes da função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Devs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40889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BR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BDD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Given / When / Then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Antes da feature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Negócio + Devs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8903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BR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SDD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OpenAPI / JSON Schema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Antes da API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4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Times + Consumidores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026490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86DD7C-081B-B34B-A18A-D1ED0925E519}"/>
              </a:ext>
            </a:extLst>
          </p:cNvPr>
          <p:cNvSpPr/>
          <p:nvPr/>
        </p:nvSpPr>
        <p:spPr>
          <a:xfrm>
            <a:off x="508000" y="5143500"/>
            <a:ext cx="11176000" cy="1397000"/>
          </a:xfrm>
          <a:prstGeom prst="roundRect">
            <a:avLst/>
          </a:prstGeom>
          <a:solidFill>
            <a:srgbClr val="5B2C9E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9" name="TddSddQuote">
            <a:extLst>
              <a:ext uri="{FF2B5EF4-FFF2-40B4-BE49-F238E27FC236}">
                <a16:creationId xmlns:a16="http://schemas.microsoft.com/office/drawing/2014/main" id="{D59497F3-F0AC-C743-9648-21297F5BC9D1}"/>
              </a:ext>
            </a:extLst>
          </p:cNvPr>
          <p:cNvSpPr txBox="1"/>
          <p:nvPr/>
        </p:nvSpPr>
        <p:spPr>
          <a:xfrm>
            <a:off x="889000" y="5207000"/>
            <a:ext cx="10541000" cy="1270000"/>
          </a:xfrm>
          <a:prstGeom prst="rect">
            <a:avLst/>
          </a:prstGeom>
          <a:noFill/>
        </p:spPr>
        <p:txBody>
          <a:bodyPr vertOverflow="overflow" vert="horz" wrap="square" rtlCol="0" anchor="ctr">
            <a:noAutofit/>
          </a:bodyPr>
          <a:lstStyle/>
          <a:p>
            <a:pPr>
              <a:lnSpc>
                <a:spcPts val="2400"/>
              </a:lnSpc>
              <a:buNone/>
            </a:pPr>
            <a:r>
              <a:rPr lang="pt-BR" sz="2000" i="1" dirty="0">
                <a:solidFill>
                  <a:srgbClr val="E6DDF5"/>
                </a:solidFill>
                <a:latin typeface="Segoe UI"/>
              </a:rPr>
              <a:t>No TDD você escreve o teste antes do código. No SDD você escreve o </a:t>
            </a:r>
            <a:r>
              <a:rPr lang="pt-BR" sz="2000" b="1" i="1" dirty="0">
                <a:solidFill>
                  <a:srgbClr val="FFD166"/>
                </a:solidFill>
                <a:latin typeface="Segoe UI"/>
              </a:rPr>
              <a:t>contrato</a:t>
            </a:r>
            <a:r>
              <a:rPr lang="pt-BR" sz="2000" i="1" dirty="0">
                <a:solidFill>
                  <a:srgbClr val="E6DDF5"/>
                </a:solidFill>
                <a:latin typeface="Segoe UI"/>
              </a:rPr>
              <a:t> antes de tudo.</a:t>
            </a:r>
          </a:p>
        </p:txBody>
      </p:sp>
    </p:spTree>
    <p:extLst>
      <p:ext uri="{BB962C8B-B14F-4D97-AF65-F5344CB8AC3E}">
        <p14:creationId xmlns:p14="http://schemas.microsoft.com/office/powerpoint/2010/main" val="92601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8178BB-FAE3-A34D-B564-DAE2A0F177E8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AC842-14E9-C247-BD29-11E0351241E7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Segoe UI"/>
                <a:cs typeface="Segoe UI"/>
              </a:rPr>
              <a:t>O Ciclo do SDD</a:t>
            </a:r>
            <a:endParaRPr lang="en-BR" sz="3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2AF23-DAEE-DB4A-AC86-8088DC1B268D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CFFF15-206E-B342-B2D3-AC7B4E3AAC2E}"/>
              </a:ext>
            </a:extLst>
          </p:cNvPr>
          <p:cNvSpPr/>
          <p:nvPr/>
        </p:nvSpPr>
        <p:spPr>
          <a:xfrm>
            <a:off x="698500" y="2286000"/>
            <a:ext cx="2413000" cy="279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C58D73-FA82-114A-BC9E-65C5575D854F}"/>
              </a:ext>
            </a:extLst>
          </p:cNvPr>
          <p:cNvSpPr/>
          <p:nvPr/>
        </p:nvSpPr>
        <p:spPr>
          <a:xfrm>
            <a:off x="1549400" y="2590800"/>
            <a:ext cx="711200" cy="711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BR" sz="26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2131DB-CCE6-8849-9EBE-56ECC58D5866}"/>
              </a:ext>
            </a:extLst>
          </p:cNvPr>
          <p:cNvSpPr txBox="1"/>
          <p:nvPr/>
        </p:nvSpPr>
        <p:spPr>
          <a:xfrm>
            <a:off x="825500" y="3556000"/>
            <a:ext cx="2159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E1058"/>
                </a:solidFill>
                <a:latin typeface="Segoe UI"/>
                <a:cs typeface="Segoe UI"/>
              </a:rPr>
              <a:t>Escreva a spec</a:t>
            </a:r>
            <a:endParaRPr lang="en-BR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B9153A-5A8F-A147-A54C-14FD42CD6238}"/>
              </a:ext>
            </a:extLst>
          </p:cNvPr>
          <p:cNvSpPr txBox="1"/>
          <p:nvPr/>
        </p:nvSpPr>
        <p:spPr>
          <a:xfrm>
            <a:off x="825500" y="4127500"/>
            <a:ext cx="215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5B2C9E"/>
                </a:solidFill>
                <a:latin typeface="Segoe UI"/>
                <a:cs typeface="Segoe UI"/>
              </a:rPr>
              <a:t>define o contrato</a:t>
            </a:r>
            <a:endParaRPr lang="en-BR" sz="1300">
              <a:solidFill>
                <a:srgbClr val="5B2C9E"/>
              </a:solidFill>
              <a:latin typeface="Segoe UI"/>
              <a:cs typeface="Segoe UI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EE22AA6E-14E1-7943-8062-F5C96BB9A5FA}"/>
              </a:ext>
            </a:extLst>
          </p:cNvPr>
          <p:cNvSpPr/>
          <p:nvPr/>
        </p:nvSpPr>
        <p:spPr>
          <a:xfrm>
            <a:off x="3136900" y="3429000"/>
            <a:ext cx="330200" cy="381000"/>
          </a:xfrm>
          <a:prstGeom prst="rightArrow">
            <a:avLst/>
          </a:prstGeom>
          <a:solidFill>
            <a:srgbClr val="8458C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84E1686-F7AE-AE47-BD13-2C9A141D1845}"/>
              </a:ext>
            </a:extLst>
          </p:cNvPr>
          <p:cNvSpPr/>
          <p:nvPr/>
        </p:nvSpPr>
        <p:spPr>
          <a:xfrm>
            <a:off x="3492500" y="2286000"/>
            <a:ext cx="2413000" cy="279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1F88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E789DF-7657-054B-9ACB-614A22319092}"/>
              </a:ext>
            </a:extLst>
          </p:cNvPr>
          <p:cNvSpPr/>
          <p:nvPr/>
        </p:nvSpPr>
        <p:spPr>
          <a:xfrm>
            <a:off x="4343400" y="2590800"/>
            <a:ext cx="711200" cy="711200"/>
          </a:xfrm>
          <a:prstGeom prst="ellipse">
            <a:avLst/>
          </a:prstGeom>
          <a:solidFill>
            <a:srgbClr val="1F88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BR" sz="26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80FB7B-CD4F-714C-8E37-8546B885F516}"/>
              </a:ext>
            </a:extLst>
          </p:cNvPr>
          <p:cNvSpPr txBox="1"/>
          <p:nvPr/>
        </p:nvSpPr>
        <p:spPr>
          <a:xfrm>
            <a:off x="3619500" y="3556000"/>
            <a:ext cx="2159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E1058"/>
                </a:solidFill>
                <a:latin typeface="Segoe UI"/>
                <a:cs typeface="Segoe UI"/>
              </a:rPr>
              <a:t>Rode um mock</a:t>
            </a:r>
            <a:endParaRPr lang="en-BR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AB3039-3739-F448-AD8E-D3C30DBEBCF2}"/>
              </a:ext>
            </a:extLst>
          </p:cNvPr>
          <p:cNvSpPr txBox="1"/>
          <p:nvPr/>
        </p:nvSpPr>
        <p:spPr>
          <a:xfrm>
            <a:off x="3619500" y="4127500"/>
            <a:ext cx="215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5B2C9E"/>
                </a:solidFill>
                <a:latin typeface="Segoe UI"/>
                <a:cs typeface="Segoe UI"/>
              </a:rPr>
              <a:t>feedback antes de codar</a:t>
            </a:r>
            <a:endParaRPr lang="en-BR" sz="1300">
              <a:solidFill>
                <a:srgbClr val="5B2C9E"/>
              </a:solidFill>
              <a:latin typeface="Segoe UI"/>
              <a:cs typeface="Segoe UI"/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E0E39AC5-5C9B-4B46-92D3-0EA0F6B852BB}"/>
              </a:ext>
            </a:extLst>
          </p:cNvPr>
          <p:cNvSpPr/>
          <p:nvPr/>
        </p:nvSpPr>
        <p:spPr>
          <a:xfrm>
            <a:off x="5930900" y="3429000"/>
            <a:ext cx="330200" cy="381000"/>
          </a:xfrm>
          <a:prstGeom prst="rightArrow">
            <a:avLst/>
          </a:prstGeom>
          <a:solidFill>
            <a:srgbClr val="8458C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A24803F-724A-404A-B7F9-A3AA6E6D4EFC}"/>
              </a:ext>
            </a:extLst>
          </p:cNvPr>
          <p:cNvSpPr/>
          <p:nvPr/>
        </p:nvSpPr>
        <p:spPr>
          <a:xfrm>
            <a:off x="6286500" y="2286000"/>
            <a:ext cx="2413000" cy="279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FFD1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8213BA-E546-FE4D-A464-5B70E360FB99}"/>
              </a:ext>
            </a:extLst>
          </p:cNvPr>
          <p:cNvSpPr/>
          <p:nvPr/>
        </p:nvSpPr>
        <p:spPr>
          <a:xfrm>
            <a:off x="7137400" y="2590800"/>
            <a:ext cx="711200" cy="711200"/>
          </a:xfrm>
          <a:prstGeom prst="ellipse">
            <a:avLst/>
          </a:prstGeom>
          <a:solidFill>
            <a:srgbClr val="FFD1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BR" sz="26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7F8D8D-E47C-FA47-A19E-7E420669EE2E}"/>
              </a:ext>
            </a:extLst>
          </p:cNvPr>
          <p:cNvSpPr txBox="1"/>
          <p:nvPr/>
        </p:nvSpPr>
        <p:spPr>
          <a:xfrm>
            <a:off x="6413500" y="3556000"/>
            <a:ext cx="2159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E1058"/>
                </a:solidFill>
                <a:latin typeface="Segoe UI"/>
                <a:cs typeface="Segoe UI"/>
              </a:rPr>
              <a:t>Implemente</a:t>
            </a:r>
            <a:endParaRPr lang="en-BR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ACE72A-BC68-2B4A-BAD3-308E28533FAE}"/>
              </a:ext>
            </a:extLst>
          </p:cNvPr>
          <p:cNvSpPr txBox="1"/>
          <p:nvPr/>
        </p:nvSpPr>
        <p:spPr>
          <a:xfrm>
            <a:off x="6413500" y="4127500"/>
            <a:ext cx="215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5B2C9E"/>
                </a:solidFill>
                <a:latin typeface="Segoe UI"/>
                <a:cs typeface="Segoe UI"/>
              </a:rPr>
              <a:t>até os testes passarem</a:t>
            </a:r>
            <a:endParaRPr lang="en-BR" sz="1300">
              <a:solidFill>
                <a:srgbClr val="5B2C9E"/>
              </a:solidFill>
              <a:latin typeface="Segoe UI"/>
              <a:cs typeface="Segoe UI"/>
            </a:endParaRP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B6EA0DBA-8645-EF45-B3DF-C8A905930F37}"/>
              </a:ext>
            </a:extLst>
          </p:cNvPr>
          <p:cNvSpPr/>
          <p:nvPr/>
        </p:nvSpPr>
        <p:spPr>
          <a:xfrm>
            <a:off x="8724900" y="3429000"/>
            <a:ext cx="330200" cy="381000"/>
          </a:xfrm>
          <a:prstGeom prst="rightArrow">
            <a:avLst/>
          </a:prstGeom>
          <a:solidFill>
            <a:srgbClr val="8458C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3A9590F-B075-5442-BE7E-7B6D738513EC}"/>
              </a:ext>
            </a:extLst>
          </p:cNvPr>
          <p:cNvSpPr/>
          <p:nvPr/>
        </p:nvSpPr>
        <p:spPr>
          <a:xfrm>
            <a:off x="9080500" y="2286000"/>
            <a:ext cx="2413000" cy="279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8250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69185A-7DD7-C642-8C05-0878F9834CEB}"/>
              </a:ext>
            </a:extLst>
          </p:cNvPr>
          <p:cNvSpPr/>
          <p:nvPr/>
        </p:nvSpPr>
        <p:spPr>
          <a:xfrm>
            <a:off x="9931400" y="2590800"/>
            <a:ext cx="711200" cy="711200"/>
          </a:xfrm>
          <a:prstGeom prst="ellipse">
            <a:avLst/>
          </a:prstGeom>
          <a:solidFill>
            <a:srgbClr val="8250D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BR" sz="26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C7F3B3-4336-5F4C-A95D-62B8903B13F0}"/>
              </a:ext>
            </a:extLst>
          </p:cNvPr>
          <p:cNvSpPr txBox="1"/>
          <p:nvPr/>
        </p:nvSpPr>
        <p:spPr>
          <a:xfrm>
            <a:off x="9207500" y="3556000"/>
            <a:ext cx="2159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E1058"/>
                </a:solidFill>
                <a:latin typeface="Segoe UI"/>
                <a:cs typeface="Segoe UI"/>
              </a:rPr>
              <a:t>Refatore</a:t>
            </a:r>
            <a:endParaRPr lang="en-BR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0497CF-6697-9047-83E3-817AD18E689D}"/>
              </a:ext>
            </a:extLst>
          </p:cNvPr>
          <p:cNvSpPr txBox="1"/>
          <p:nvPr/>
        </p:nvSpPr>
        <p:spPr>
          <a:xfrm>
            <a:off x="9207500" y="4127500"/>
            <a:ext cx="215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5B2C9E"/>
                </a:solidFill>
                <a:latin typeface="Segoe UI"/>
                <a:cs typeface="Segoe UI"/>
              </a:rPr>
              <a:t>spec continua árbitro</a:t>
            </a:r>
            <a:endParaRPr lang="en-BR" sz="1300">
              <a:solidFill>
                <a:srgbClr val="5B2C9E"/>
              </a:solidFill>
              <a:latin typeface="Segoe UI"/>
              <a:cs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5093ED-1724-A44E-80D1-EBE878D51080}"/>
              </a:ext>
            </a:extLst>
          </p:cNvPr>
          <p:cNvSpPr txBox="1"/>
          <p:nvPr/>
        </p:nvSpPr>
        <p:spPr>
          <a:xfrm>
            <a:off x="508000" y="5588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i="1">
                <a:solidFill>
                  <a:srgbClr val="C9B8E0"/>
                </a:solidFill>
                <a:latin typeface="Segoe UI"/>
                <a:cs typeface="Segoe UI"/>
              </a:rPr>
              <a:t>↻  A spec é a fonte da verdade em todo o ciclo</a:t>
            </a:r>
            <a:endParaRPr lang="en-BR" sz="1500" i="1">
              <a:solidFill>
                <a:srgbClr val="C9B8E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94014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D3A011-4EFC-D04C-918D-78BAD0B07D38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78E60-AC1B-B44C-AD49-3FB2F62DBDD5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400" b="1" dirty="0">
                <a:solidFill>
                  <a:srgbClr val="FFFFFF"/>
                </a:solidFill>
                <a:latin typeface="Segoe UI"/>
                <a:cs typeface="Segoe UI"/>
              </a:rPr>
              <a:t>Por </a:t>
            </a:r>
            <a:r>
              <a:rPr lang="en-US" sz="3400" b="1" dirty="0" err="1">
                <a:solidFill>
                  <a:srgbClr val="FFFFFF"/>
                </a:solidFill>
                <a:latin typeface="Segoe UI"/>
                <a:cs typeface="Segoe UI"/>
              </a:rPr>
              <a:t>Que</a:t>
            </a:r>
            <a:r>
              <a:rPr lang="en-US" sz="3400" b="1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Segoe UI"/>
                <a:cs typeface="Segoe UI"/>
              </a:rPr>
              <a:t>Isso</a:t>
            </a:r>
            <a:r>
              <a:rPr lang="en-US" sz="3400" b="1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Segoe UI"/>
                <a:cs typeface="Segoe UI"/>
              </a:rPr>
              <a:t>Importa</a:t>
            </a:r>
            <a:r>
              <a:rPr lang="en-US" sz="3400" b="1" dirty="0">
                <a:solidFill>
                  <a:srgbClr val="FFFFFF"/>
                </a:solidFill>
                <a:latin typeface="Segoe UI"/>
                <a:cs typeface="Segoe UI"/>
              </a:rPr>
              <a:t> AGORA?</a:t>
            </a:r>
            <a:endParaRPr lang="en-BR" sz="3400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08D74-8048-8144-ACEE-0C741A4AA44C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12591A5-BD1B-A048-9293-8C06524934C8}"/>
              </a:ext>
            </a:extLst>
          </p:cNvPr>
          <p:cNvSpPr/>
          <p:nvPr/>
        </p:nvSpPr>
        <p:spPr>
          <a:xfrm>
            <a:off x="1016000" y="2159000"/>
            <a:ext cx="10160000" cy="4064000"/>
          </a:xfrm>
          <a:prstGeom prst="roundRect">
            <a:avLst/>
          </a:prstGeom>
          <a:solidFill>
            <a:srgbClr val="1A0830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8129E1-649A-A647-A8C7-97E774B9C7AB}"/>
              </a:ext>
            </a:extLst>
          </p:cNvPr>
          <p:cNvSpPr txBox="1"/>
          <p:nvPr/>
        </p:nvSpPr>
        <p:spPr>
          <a:xfrm>
            <a:off x="1016000" y="2636874"/>
            <a:ext cx="10160000" cy="1109626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BR" sz="8000" dirty="0"/>
              <a:t>🤖</a:t>
            </a:r>
          </a:p>
        </p:txBody>
      </p:sp>
      <p:sp>
        <p:nvSpPr>
          <p:cNvPr id="7" name="Line1">
            <a:extLst>
              <a:ext uri="{FF2B5EF4-FFF2-40B4-BE49-F238E27FC236}">
                <a16:creationId xmlns:a16="http://schemas.microsoft.com/office/drawing/2014/main" id="{CF6EC02E-4450-4E47-805F-FB07C1F07F21}"/>
              </a:ext>
            </a:extLst>
          </p:cNvPr>
          <p:cNvSpPr txBox="1"/>
          <p:nvPr/>
        </p:nvSpPr>
        <p:spPr>
          <a:xfrm>
            <a:off x="1270000" y="3937000"/>
            <a:ext cx="965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pt-BR" sz="2200" dirty="0">
                <a:solidFill>
                  <a:srgbClr val="E6EDF3"/>
                </a:solidFill>
                <a:latin typeface="Segoe UI"/>
              </a:rPr>
              <a:t>Em 2026, todo mundo está usando </a:t>
            </a:r>
            <a:r>
              <a:rPr lang="pt-BR" sz="2200" b="1" dirty="0">
                <a:solidFill>
                  <a:srgbClr val="B794E6"/>
                </a:solidFill>
                <a:latin typeface="Segoe UI"/>
              </a:rPr>
              <a:t>GitHub Copilot</a:t>
            </a:r>
            <a:r>
              <a:rPr lang="pt-BR" sz="2200" dirty="0">
                <a:solidFill>
                  <a:srgbClr val="E6EDF3"/>
                </a:solidFill>
                <a:latin typeface="Segoe UI"/>
              </a:rPr>
              <a:t>.</a:t>
            </a:r>
          </a:p>
        </p:txBody>
      </p:sp>
      <p:sp>
        <p:nvSpPr>
          <p:cNvPr id="8" name="Line2">
            <a:extLst>
              <a:ext uri="{FF2B5EF4-FFF2-40B4-BE49-F238E27FC236}">
                <a16:creationId xmlns:a16="http://schemas.microsoft.com/office/drawing/2014/main" id="{AE96343A-F5CB-DD47-879D-04B332D64CDC}"/>
              </a:ext>
            </a:extLst>
          </p:cNvPr>
          <p:cNvSpPr txBox="1"/>
          <p:nvPr/>
        </p:nvSpPr>
        <p:spPr>
          <a:xfrm>
            <a:off x="1270000" y="4826000"/>
            <a:ext cx="965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pt-BR" sz="2000" dirty="0">
                <a:solidFill>
                  <a:srgbClr val="A5D6FF"/>
                </a:solidFill>
                <a:latin typeface="Segoe UI"/>
              </a:rPr>
              <a:t>E o Copilot </a:t>
            </a:r>
            <a:r>
              <a:rPr lang="pt-BR" sz="2000" b="1" dirty="0">
                <a:solidFill>
                  <a:srgbClr val="FFA657"/>
                </a:solidFill>
                <a:latin typeface="Segoe UI"/>
              </a:rPr>
              <a:t>mudou completamente</a:t>
            </a:r>
            <a:r>
              <a:rPr lang="pt-BR" sz="2000" dirty="0">
                <a:solidFill>
                  <a:srgbClr val="A5D6FF"/>
                </a:solidFill>
                <a:latin typeface="Segoe UI"/>
              </a:rPr>
              <a:t> essa equação.</a:t>
            </a:r>
          </a:p>
        </p:txBody>
      </p:sp>
    </p:spTree>
    <p:extLst>
      <p:ext uri="{BB962C8B-B14F-4D97-AF65-F5344CB8AC3E}">
        <p14:creationId xmlns:p14="http://schemas.microsoft.com/office/powerpoint/2010/main" val="246797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77D1E9-094B-DA4E-BC66-F8EB62BCF234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C47EF1-0357-9940-A8C3-DF9B4B014D56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Segoe UI"/>
                <a:cs typeface="Segoe UI"/>
              </a:rPr>
              <a:t>Como o Copilot Funciona</a:t>
            </a:r>
            <a:endParaRPr lang="en-BR" sz="3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01C4D7-9654-5041-824F-2062A8EA6756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A1B73-69D2-4C48-B8C4-475E2BBF1590}"/>
              </a:ext>
            </a:extLst>
          </p:cNvPr>
          <p:cNvSpPr txBox="1"/>
          <p:nvPr/>
        </p:nvSpPr>
        <p:spPr>
          <a:xfrm>
            <a:off x="508000" y="2032000"/>
            <a:ext cx="1117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E6DDF5"/>
                </a:solidFill>
                <a:latin typeface="Segoe UI"/>
                <a:cs typeface="Segoe UI"/>
              </a:rPr>
              <a:t>O Copilot monta um contexto para o modelo de IA a partir de:</a:t>
            </a:r>
            <a:endParaRPr lang="en-BR" sz="1600">
              <a:solidFill>
                <a:srgbClr val="E6DDF5"/>
              </a:solidFill>
              <a:latin typeface="Segoe UI"/>
              <a:cs typeface="Segoe UI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BF971C7-9747-844A-AEAD-07BC4BA71FB0}"/>
              </a:ext>
            </a:extLst>
          </p:cNvPr>
          <p:cNvSpPr/>
          <p:nvPr/>
        </p:nvSpPr>
        <p:spPr>
          <a:xfrm>
            <a:off x="635000" y="2667000"/>
            <a:ext cx="3429000" cy="2032000"/>
          </a:xfrm>
          <a:prstGeom prst="roundRect">
            <a:avLst/>
          </a:prstGeom>
          <a:solidFill>
            <a:srgbClr val="5B2C9E"/>
          </a:solidFill>
          <a:ln w="12700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60C3C7-9851-4940-B0F0-761746260E8C}"/>
              </a:ext>
            </a:extLst>
          </p:cNvPr>
          <p:cNvSpPr txBox="1"/>
          <p:nvPr/>
        </p:nvSpPr>
        <p:spPr>
          <a:xfrm>
            <a:off x="889000" y="2984500"/>
            <a:ext cx="2921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  <a:latin typeface="Consolas"/>
                <a:cs typeface="Consolas"/>
              </a:rPr>
              <a:t>Neighboring tabs</a:t>
            </a:r>
            <a:endParaRPr lang="en-BR" sz="1900" b="1" dirty="0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E71460-A7A3-5F4F-8BE5-CB9DCB83B5C2}"/>
              </a:ext>
            </a:extLst>
          </p:cNvPr>
          <p:cNvSpPr txBox="1"/>
          <p:nvPr/>
        </p:nvSpPr>
        <p:spPr>
          <a:xfrm>
            <a:off x="889000" y="3556000"/>
            <a:ext cx="292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E6DDF5"/>
                </a:solidFill>
                <a:latin typeface="Segoe UI"/>
                <a:cs typeface="Segoe UI"/>
              </a:rPr>
              <a:t>Todos os arquivos abertos no IDE</a:t>
            </a:r>
            <a:endParaRPr lang="en-BR" sz="1400">
              <a:solidFill>
                <a:srgbClr val="E6DDF5"/>
              </a:solidFill>
              <a:latin typeface="Segoe UI"/>
              <a:cs typeface="Segoe UI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EF06FB4-C261-F844-AB20-F431FAD85E01}"/>
              </a:ext>
            </a:extLst>
          </p:cNvPr>
          <p:cNvSpPr/>
          <p:nvPr/>
        </p:nvSpPr>
        <p:spPr>
          <a:xfrm>
            <a:off x="4381500" y="2667000"/>
            <a:ext cx="3429000" cy="2032000"/>
          </a:xfrm>
          <a:prstGeom prst="roundRect">
            <a:avLst/>
          </a:prstGeom>
          <a:solidFill>
            <a:srgbClr val="5B2C9E"/>
          </a:solidFill>
          <a:ln w="12700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85686E-421C-AC4A-9720-E1DD2D30BC8C}"/>
              </a:ext>
            </a:extLst>
          </p:cNvPr>
          <p:cNvSpPr txBox="1"/>
          <p:nvPr/>
        </p:nvSpPr>
        <p:spPr>
          <a:xfrm>
            <a:off x="4635500" y="2984500"/>
            <a:ext cx="2921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Consolas"/>
                <a:cs typeface="Consolas"/>
              </a:rPr>
              <a:t>Fill-in-the-Middle</a:t>
            </a:r>
            <a:endParaRPr lang="en-BR" sz="1900" b="1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58A46F-F80F-D14F-9BBC-9B3CD3B280B9}"/>
              </a:ext>
            </a:extLst>
          </p:cNvPr>
          <p:cNvSpPr txBox="1"/>
          <p:nvPr/>
        </p:nvSpPr>
        <p:spPr>
          <a:xfrm>
            <a:off x="4635500" y="3556000"/>
            <a:ext cx="292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E6DDF5"/>
                </a:solidFill>
                <a:latin typeface="Segoe UI"/>
                <a:cs typeface="Segoe UI"/>
              </a:rPr>
              <a:t>Código antes e depois do cursor</a:t>
            </a:r>
            <a:endParaRPr lang="en-BR" sz="1400">
              <a:solidFill>
                <a:srgbClr val="E6DDF5"/>
              </a:solidFill>
              <a:latin typeface="Segoe UI"/>
              <a:cs typeface="Segoe UI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1B53845-9815-9C47-B42D-0CBA744684EB}"/>
              </a:ext>
            </a:extLst>
          </p:cNvPr>
          <p:cNvSpPr/>
          <p:nvPr/>
        </p:nvSpPr>
        <p:spPr>
          <a:xfrm>
            <a:off x="8128000" y="2667000"/>
            <a:ext cx="3429000" cy="2032000"/>
          </a:xfrm>
          <a:prstGeom prst="roundRect">
            <a:avLst/>
          </a:prstGeom>
          <a:solidFill>
            <a:srgbClr val="5B2C9E"/>
          </a:solidFill>
          <a:ln w="12700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CD5D0A-BE16-0F48-AA62-B25A6164D7B9}"/>
              </a:ext>
            </a:extLst>
          </p:cNvPr>
          <p:cNvSpPr txBox="1"/>
          <p:nvPr/>
        </p:nvSpPr>
        <p:spPr>
          <a:xfrm>
            <a:off x="8382000" y="2984500"/>
            <a:ext cx="2921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Consolas"/>
                <a:cs typeface="Consolas"/>
              </a:rPr>
              <a:t>Chat history</a:t>
            </a:r>
            <a:endParaRPr lang="en-BR" sz="1900" b="1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C9BA81-E846-7E46-928F-E6926BF58130}"/>
              </a:ext>
            </a:extLst>
          </p:cNvPr>
          <p:cNvSpPr txBox="1"/>
          <p:nvPr/>
        </p:nvSpPr>
        <p:spPr>
          <a:xfrm>
            <a:off x="8382000" y="3556000"/>
            <a:ext cx="292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E6DDF5"/>
                </a:solidFill>
                <a:latin typeface="Segoe UI"/>
                <a:cs typeface="Segoe UI"/>
              </a:rPr>
              <a:t>Histórico da conversa</a:t>
            </a:r>
            <a:endParaRPr lang="en-BR" sz="1400">
              <a:solidFill>
                <a:srgbClr val="E6DDF5"/>
              </a:solidFill>
              <a:latin typeface="Segoe UI"/>
              <a:cs typeface="Segoe UI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A6C7B24-C9AC-4E45-9977-4C6775761D95}"/>
              </a:ext>
            </a:extLst>
          </p:cNvPr>
          <p:cNvSpPr/>
          <p:nvPr/>
        </p:nvSpPr>
        <p:spPr>
          <a:xfrm>
            <a:off x="508000" y="5143500"/>
            <a:ext cx="11176000" cy="1397000"/>
          </a:xfrm>
          <a:prstGeom prst="roundRect">
            <a:avLst/>
          </a:prstGeom>
          <a:solidFill>
            <a:srgbClr val="FFF8C5"/>
          </a:solidFill>
          <a:ln w="9525" cap="flat" cmpd="sng" algn="ctr">
            <a:solidFill>
              <a:srgbClr val="D4A72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9" name="ContextQuote">
            <a:extLst>
              <a:ext uri="{FF2B5EF4-FFF2-40B4-BE49-F238E27FC236}">
                <a16:creationId xmlns:a16="http://schemas.microsoft.com/office/drawing/2014/main" id="{0D05626B-1C71-CB44-BDAD-3C28F381D824}"/>
              </a:ext>
            </a:extLst>
          </p:cNvPr>
          <p:cNvSpPr txBox="1"/>
          <p:nvPr/>
        </p:nvSpPr>
        <p:spPr>
          <a:xfrm>
            <a:off x="762000" y="5334000"/>
            <a:ext cx="10668000" cy="1016000"/>
          </a:xfrm>
          <a:prstGeom prst="rect">
            <a:avLst/>
          </a:prstGeom>
          <a:noFill/>
        </p:spPr>
        <p:txBody>
          <a:bodyPr vertOverflow="overflow" vert="horz" wrap="square" rtlCol="0" anchor="ctr">
            <a:noAutofit/>
          </a:bodyPr>
          <a:lstStyle/>
          <a:p>
            <a:pPr algn="ctr">
              <a:lnSpc>
                <a:spcPts val="2800"/>
              </a:lnSpc>
              <a:buNone/>
            </a:pPr>
            <a:r>
              <a:rPr lang="pt-BR" sz="2800" b="1" dirty="0">
                <a:solidFill>
                  <a:srgbClr val="7D4E00"/>
                </a:solidFill>
                <a:latin typeface="Segoe UI"/>
              </a:rPr>
              <a:t>Contexto rico = predições melhores.</a:t>
            </a:r>
          </a:p>
          <a:p>
            <a:pPr algn="ctr">
              <a:buNone/>
            </a:pPr>
            <a:r>
              <a:rPr lang="pt-BR" dirty="0">
                <a:solidFill>
                  <a:srgbClr val="7D4E00"/>
                </a:solidFill>
                <a:latin typeface="Segoe UI"/>
              </a:rPr>
              <a:t>É simples assim.</a:t>
            </a:r>
          </a:p>
        </p:txBody>
      </p:sp>
    </p:spTree>
    <p:extLst>
      <p:ext uri="{BB962C8B-B14F-4D97-AF65-F5344CB8AC3E}">
        <p14:creationId xmlns:p14="http://schemas.microsoft.com/office/powerpoint/2010/main" val="195774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EED81D-19BE-6345-B2B4-C88A3CF82F38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6AE27-3AD8-674E-8D82-7B7C9B21AA09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Segoe UI"/>
                <a:cs typeface="Segoe UI"/>
              </a:rPr>
              <a:t>Spec Aberta = Contexto Perfeito</a:t>
            </a:r>
            <a:endParaRPr lang="en-BR" sz="34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5DCFDB-84AA-6E4D-B7B7-AD9CC593AE9B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841599-45D1-924B-8955-E06BF523E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900252"/>
              </p:ext>
            </p:extLst>
          </p:nvPr>
        </p:nvGraphicFramePr>
        <p:xfrm>
          <a:off x="508000" y="2032000"/>
          <a:ext cx="11176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0">
                  <a:extLst>
                    <a:ext uri="{9D8B030D-6E8A-4147-A177-3AD203B41FA5}">
                      <a16:colId xmlns:a16="http://schemas.microsoft.com/office/drawing/2014/main" val="2162146776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70384258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BR" sz="16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✗  Sem Spec</a:t>
                      </a:r>
                    </a:p>
                  </a:txBody>
                  <a:tcPr anchor="ctr">
                    <a:solidFill>
                      <a:srgbClr val="2E10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BR" sz="16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✓  Com Spec Aberta</a:t>
                      </a:r>
                    </a:p>
                  </a:txBody>
                  <a:tcPr anchor="ctr">
                    <a:solidFill>
                      <a:srgbClr val="2E1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50032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BR" sz="14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Chuta tipos dos parâmetros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4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Lê tipos exatos do JSON Schema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57125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BR" sz="14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Inventa formato de resposta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4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Segue o schema de resposta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65841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BR" sz="14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Ignora validações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4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Usa constraints: min / max / pattern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92789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BR" sz="14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Inventa tratamento de erros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4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Segue schemas de erro documentados</a:t>
                      </a:r>
                    </a:p>
                  </a:txBody>
                  <a:tcPr anchor="ctr">
                    <a:solidFill>
                      <a:srgbClr val="5B2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13558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BR" sz="14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Nomeia coisas genericamente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R" sz="140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Usa operationId e nomes do schema</a:t>
                      </a:r>
                    </a:p>
                  </a:txBody>
                  <a:tcPr anchor="ctr">
                    <a:solidFill>
                      <a:srgbClr val="4A1F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737764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A55C1E6-64C5-4445-A695-2327C20E5291}"/>
              </a:ext>
            </a:extLst>
          </p:cNvPr>
          <p:cNvSpPr/>
          <p:nvPr/>
        </p:nvSpPr>
        <p:spPr>
          <a:xfrm>
            <a:off x="508000" y="5778500"/>
            <a:ext cx="11176000" cy="762000"/>
          </a:xfrm>
          <a:prstGeom prst="roundRect">
            <a:avLst/>
          </a:prstGeom>
          <a:solidFill>
            <a:srgbClr val="DDF4FF"/>
          </a:solidFill>
          <a:ln w="9525" cap="flat" cmpd="sng" algn="ctr">
            <a:solidFill>
              <a:srgbClr val="54AE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 sz="2400" dirty="0"/>
          </a:p>
        </p:txBody>
      </p:sp>
      <p:sp>
        <p:nvSpPr>
          <p:cNvPr id="8" name="OpenSpecTip">
            <a:extLst>
              <a:ext uri="{FF2B5EF4-FFF2-40B4-BE49-F238E27FC236}">
                <a16:creationId xmlns:a16="http://schemas.microsoft.com/office/drawing/2014/main" id="{78FE9D4D-671C-664C-9F38-2081CDFFCB56}"/>
              </a:ext>
            </a:extLst>
          </p:cNvPr>
          <p:cNvSpPr txBox="1"/>
          <p:nvPr/>
        </p:nvSpPr>
        <p:spPr>
          <a:xfrm>
            <a:off x="762000" y="59055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ctr">
            <a:noAutofit/>
          </a:bodyPr>
          <a:lstStyle/>
          <a:p>
            <a:pPr algn="ctr">
              <a:buNone/>
            </a:pPr>
            <a:r>
              <a:rPr lang="pt-BR" dirty="0">
                <a:solidFill>
                  <a:srgbClr val="0A3069"/>
                </a:solidFill>
                <a:latin typeface="Segoe UI"/>
              </a:rPr>
              <a:t>Abra a spec no VS Code ao lado do código. O Copilot pega o contexto </a:t>
            </a:r>
            <a:r>
              <a:rPr lang="pt-BR" b="1" dirty="0">
                <a:solidFill>
                  <a:schemeClr val="bg1"/>
                </a:solidFill>
                <a:latin typeface="Segoe UI"/>
              </a:rPr>
              <a:t>automaticamente</a:t>
            </a:r>
            <a:r>
              <a:rPr lang="pt-BR" dirty="0">
                <a:solidFill>
                  <a:srgbClr val="0A3069"/>
                </a:solidFill>
                <a:latin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6608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1A78C5-42A1-2840-9133-C3155B1A54A7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B20970-66F4-DF45-A914-1A665AF6B450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Segoe UI"/>
                <a:cs typeface="Segoe UI"/>
              </a:rPr>
              <a:t>O Truque: copilot-instructions.md</a:t>
            </a:r>
            <a:endParaRPr lang="en-BR" sz="32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1489A9-6280-3545-9157-EC37B1A7A3CA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A9B6972-6FDA-3841-A25F-76273AADC43D}"/>
              </a:ext>
            </a:extLst>
          </p:cNvPr>
          <p:cNvSpPr/>
          <p:nvPr/>
        </p:nvSpPr>
        <p:spPr>
          <a:xfrm>
            <a:off x="762000" y="2095500"/>
            <a:ext cx="10668000" cy="3556000"/>
          </a:xfrm>
          <a:prstGeom prst="roundRect">
            <a:avLst/>
          </a:prstGeom>
          <a:solidFill>
            <a:srgbClr val="1A0830"/>
          </a:solidFill>
          <a:ln w="12700" cap="flat" cmpd="sng" algn="ctr">
            <a:solidFill>
              <a:srgbClr val="6B3FB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F3708-5716-064F-96D5-E82658505700}"/>
              </a:ext>
            </a:extLst>
          </p:cNvPr>
          <p:cNvSpPr txBox="1"/>
          <p:nvPr/>
        </p:nvSpPr>
        <p:spPr>
          <a:xfrm>
            <a:off x="965200" y="2159000"/>
            <a:ext cx="330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79C0FF"/>
                </a:solidFill>
                <a:latin typeface="Consolas"/>
                <a:cs typeface="Consolas"/>
              </a:rPr>
              <a:t>.github/copilot-instructions.md</a:t>
            </a:r>
            <a:endParaRPr lang="en-BR" sz="1200">
              <a:solidFill>
                <a:srgbClr val="79C0FF"/>
              </a:solidFill>
              <a:latin typeface="Consolas"/>
              <a:cs typeface="Consolas"/>
            </a:endParaRPr>
          </a:p>
        </p:txBody>
      </p:sp>
      <p:sp>
        <p:nvSpPr>
          <p:cNvPr id="8" name="CopilotMd">
            <a:extLst>
              <a:ext uri="{FF2B5EF4-FFF2-40B4-BE49-F238E27FC236}">
                <a16:creationId xmlns:a16="http://schemas.microsoft.com/office/drawing/2014/main" id="{2411FEFB-9800-8841-B5B2-B340A417EB6D}"/>
              </a:ext>
            </a:extLst>
          </p:cNvPr>
          <p:cNvSpPr txBox="1"/>
          <p:nvPr/>
        </p:nvSpPr>
        <p:spPr>
          <a:xfrm>
            <a:off x="1143000" y="2730500"/>
            <a:ext cx="10160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900"/>
              </a:lnSpc>
              <a:buNone/>
            </a:pPr>
            <a:r>
              <a:rPr lang="pt-BR" sz="1400" dirty="0">
                <a:solidFill>
                  <a:srgbClr val="FFA657"/>
                </a:solidFill>
                <a:latin typeface="Consolas"/>
              </a:rPr>
              <a:t>## Spec Driven Design</a:t>
            </a:r>
          </a:p>
          <a:p>
            <a:pPr>
              <a:lnSpc>
                <a:spcPts val="1900"/>
              </a:lnSpc>
              <a:buNone/>
            </a:pPr>
            <a:r>
              <a:rPr lang="pt-BR" sz="1400" dirty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ts val="1900"/>
              </a:lnSpc>
              <a:buNone/>
            </a:pPr>
            <a:r>
              <a:rPr lang="pt-BR" sz="1400" dirty="0">
                <a:solidFill>
                  <a:srgbClr val="E6EDF3"/>
                </a:solidFill>
                <a:latin typeface="Consolas"/>
              </a:rPr>
              <a:t>Todos os endpoints devem seguir o contrato em </a:t>
            </a:r>
            <a:r>
              <a:rPr lang="pt-BR" sz="1400" dirty="0">
                <a:solidFill>
                  <a:srgbClr val="79C0FF"/>
                </a:solidFill>
                <a:latin typeface="Consolas"/>
              </a:rPr>
              <a:t>`./openapi.yaml`</a:t>
            </a:r>
            <a:r>
              <a:rPr lang="pt-BR" sz="1400" dirty="0">
                <a:solidFill>
                  <a:srgbClr val="E6EDF3"/>
                </a:solidFill>
                <a:latin typeface="Consolas"/>
              </a:rPr>
              <a:t>.</a:t>
            </a:r>
          </a:p>
          <a:p>
            <a:pPr>
              <a:lnSpc>
                <a:spcPts val="1900"/>
              </a:lnSpc>
              <a:buNone/>
            </a:pPr>
            <a:r>
              <a:rPr lang="pt-BR" sz="1400" dirty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ts val="1900"/>
              </a:lnSpc>
              <a:buNone/>
            </a:pPr>
            <a:r>
              <a:rPr lang="pt-BR" sz="1400" dirty="0">
                <a:solidFill>
                  <a:srgbClr val="E6EDF3"/>
                </a:solidFill>
                <a:latin typeface="Consolas"/>
              </a:rPr>
              <a:t>Para cada endpoint implementado:</a:t>
            </a:r>
          </a:p>
          <a:p>
            <a:pPr>
              <a:lnSpc>
                <a:spcPts val="1900"/>
              </a:lnSpc>
              <a:buNone/>
            </a:pPr>
            <a:r>
              <a:rPr lang="pt-BR" sz="1400" dirty="0">
                <a:solidFill>
                  <a:srgbClr val="A5D6FF"/>
                </a:solidFill>
                <a:latin typeface="Consolas"/>
              </a:rPr>
              <a:t>- Valide o request contra o schema da spec</a:t>
            </a:r>
          </a:p>
          <a:p>
            <a:pPr>
              <a:lnSpc>
                <a:spcPts val="1900"/>
              </a:lnSpc>
              <a:buNone/>
            </a:pPr>
            <a:r>
              <a:rPr lang="pt-BR" sz="1400" dirty="0">
                <a:solidFill>
                  <a:srgbClr val="A5D6FF"/>
                </a:solidFill>
                <a:latin typeface="Consolas"/>
              </a:rPr>
              <a:t>- Retorne respostas tipadas conforme o schema</a:t>
            </a:r>
          </a:p>
          <a:p>
            <a:pPr>
              <a:lnSpc>
                <a:spcPts val="1900"/>
              </a:lnSpc>
              <a:buNone/>
            </a:pPr>
            <a:r>
              <a:rPr lang="pt-BR" sz="1400" dirty="0">
                <a:solidFill>
                  <a:srgbClr val="A5D6FF"/>
                </a:solidFill>
                <a:latin typeface="Consolas"/>
              </a:rPr>
              <a:t>- Use os </a:t>
            </a:r>
            <a:r>
              <a:rPr lang="pt-BR" sz="1400" dirty="0">
                <a:solidFill>
                  <a:srgbClr val="79C0FF"/>
                </a:solidFill>
                <a:latin typeface="Consolas"/>
              </a:rPr>
              <a:t>operationId</a:t>
            </a:r>
            <a:r>
              <a:rPr lang="pt-BR" sz="1400" dirty="0">
                <a:solidFill>
                  <a:srgbClr val="A5D6FF"/>
                </a:solidFill>
                <a:latin typeface="Consolas"/>
              </a:rPr>
              <a:t> como nomes dos métodos</a:t>
            </a:r>
          </a:p>
          <a:p>
            <a:pPr>
              <a:lnSpc>
                <a:spcPts val="1900"/>
              </a:lnSpc>
              <a:buNone/>
            </a:pPr>
            <a:r>
              <a:rPr lang="pt-BR" sz="1400" dirty="0">
                <a:solidFill>
                  <a:srgbClr val="A5D6FF"/>
                </a:solidFill>
                <a:latin typeface="Consolas"/>
              </a:rPr>
              <a:t>- Implemente os códigos de erro documentados</a:t>
            </a:r>
          </a:p>
        </p:txBody>
      </p:sp>
      <p:sp>
        <p:nvSpPr>
          <p:cNvPr id="9" name="MdCaption">
            <a:extLst>
              <a:ext uri="{FF2B5EF4-FFF2-40B4-BE49-F238E27FC236}">
                <a16:creationId xmlns:a16="http://schemas.microsoft.com/office/drawing/2014/main" id="{5F10CFFA-7ABD-F14D-A1B0-65AFF36BF8CD}"/>
              </a:ext>
            </a:extLst>
          </p:cNvPr>
          <p:cNvSpPr txBox="1"/>
          <p:nvPr/>
        </p:nvSpPr>
        <p:spPr>
          <a:xfrm>
            <a:off x="762000" y="59055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pt-BR" sz="1500" dirty="0">
                <a:solidFill>
                  <a:srgbClr val="E6DDF5"/>
                </a:solidFill>
                <a:latin typeface="Segoe UI"/>
              </a:rPr>
              <a:t>Lido </a:t>
            </a:r>
            <a:r>
              <a:rPr lang="pt-BR" sz="1500" b="1" dirty="0">
                <a:solidFill>
                  <a:srgbClr val="FFD166"/>
                </a:solidFill>
                <a:latin typeface="Segoe UI"/>
              </a:rPr>
              <a:t>automaticamente</a:t>
            </a:r>
            <a:r>
              <a:rPr lang="pt-BR" sz="1500" dirty="0">
                <a:solidFill>
                  <a:srgbClr val="E6DDF5"/>
                </a:solidFill>
                <a:latin typeface="Segoe UI"/>
              </a:rPr>
              <a:t> pelo Copilot em todos os chats do repositório.</a:t>
            </a:r>
          </a:p>
        </p:txBody>
      </p:sp>
    </p:spTree>
    <p:extLst>
      <p:ext uri="{BB962C8B-B14F-4D97-AF65-F5344CB8AC3E}">
        <p14:creationId xmlns:p14="http://schemas.microsoft.com/office/powerpoint/2010/main" val="1698811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96DCE5-76F9-274F-A83C-2736C4D30C47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62182A-BCA3-5F4A-8150-E66AC2EBEE80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Segoe UI"/>
                <a:cs typeface="Segoe UI"/>
              </a:rPr>
              <a:t>Modelos — Sem Gastar Muito</a:t>
            </a:r>
            <a:endParaRPr lang="en-BR" sz="34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49366D-0CFA-9649-A806-5FE2CC597F87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C1E1BC9-4D70-5C4E-80C9-A0518F1E0F98}"/>
              </a:ext>
            </a:extLst>
          </p:cNvPr>
          <p:cNvSpPr/>
          <p:nvPr/>
        </p:nvSpPr>
        <p:spPr>
          <a:xfrm>
            <a:off x="762000" y="1850941"/>
            <a:ext cx="5080000" cy="3175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1F88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B06F49-B2BB-3F43-A762-EC8AC37465FE}"/>
              </a:ext>
            </a:extLst>
          </p:cNvPr>
          <p:cNvSpPr txBox="1"/>
          <p:nvPr/>
        </p:nvSpPr>
        <p:spPr>
          <a:xfrm>
            <a:off x="1143000" y="2168441"/>
            <a:ext cx="431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2E1058"/>
                </a:solidFill>
                <a:latin typeface="Segoe UI"/>
                <a:cs typeface="Segoe UI"/>
              </a:rPr>
              <a:t>Copilot Free</a:t>
            </a:r>
            <a:endParaRPr lang="en-BR" sz="20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D2435-2F37-014F-B7F8-DE9E4B819638}"/>
              </a:ext>
            </a:extLst>
          </p:cNvPr>
          <p:cNvSpPr txBox="1"/>
          <p:nvPr/>
        </p:nvSpPr>
        <p:spPr>
          <a:xfrm>
            <a:off x="1143000" y="2676441"/>
            <a:ext cx="431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1F883D"/>
                </a:solidFill>
                <a:latin typeface="Segoe UI"/>
                <a:cs typeface="Segoe UI"/>
              </a:rPr>
              <a:t>R$ 0</a:t>
            </a:r>
            <a:endParaRPr lang="en-BR" sz="3600" b="1">
              <a:solidFill>
                <a:srgbClr val="1F883D"/>
              </a:solidFill>
              <a:latin typeface="Segoe UI"/>
              <a:cs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E9F7F8-A602-FF4B-8E3E-95DF8AEF19B9}"/>
              </a:ext>
            </a:extLst>
          </p:cNvPr>
          <p:cNvSpPr/>
          <p:nvPr/>
        </p:nvSpPr>
        <p:spPr>
          <a:xfrm>
            <a:off x="1143000" y="3438441"/>
            <a:ext cx="4318000" cy="12700"/>
          </a:xfrm>
          <a:prstGeom prst="rect">
            <a:avLst/>
          </a:prstGeom>
          <a:solidFill>
            <a:srgbClr val="8458C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63B3-3527-9044-9295-A05097335BBD}"/>
              </a:ext>
            </a:extLst>
          </p:cNvPr>
          <p:cNvSpPr txBox="1"/>
          <p:nvPr/>
        </p:nvSpPr>
        <p:spPr>
          <a:xfrm>
            <a:off x="1143000" y="3628941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5B2C9E"/>
                </a:solidFill>
                <a:latin typeface="Segoe UI"/>
                <a:cs typeface="Segoe UI"/>
              </a:rPr>
              <a:t>Modelos incluídos</a:t>
            </a:r>
            <a:endParaRPr lang="en-BR" sz="1100" b="1">
              <a:solidFill>
                <a:srgbClr val="5B2C9E"/>
              </a:solidFill>
              <a:latin typeface="Segoe UI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920657-B5C5-5542-A1CE-942BCDB73D3B}"/>
              </a:ext>
            </a:extLst>
          </p:cNvPr>
          <p:cNvSpPr txBox="1"/>
          <p:nvPr/>
        </p:nvSpPr>
        <p:spPr>
          <a:xfrm>
            <a:off x="1143000" y="3946441"/>
            <a:ext cx="431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E1058"/>
                </a:solidFill>
                <a:latin typeface="Segoe UI"/>
                <a:cs typeface="Segoe UI"/>
              </a:rPr>
              <a:t>GPT-5 mini</a:t>
            </a:r>
            <a:endParaRPr lang="en-BR" sz="15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78AC18-7A67-C146-97D0-B2642049426B}"/>
              </a:ext>
            </a:extLst>
          </p:cNvPr>
          <p:cNvSpPr txBox="1"/>
          <p:nvPr/>
        </p:nvSpPr>
        <p:spPr>
          <a:xfrm>
            <a:off x="1143000" y="4390941"/>
            <a:ext cx="431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pt-BR" sz="1300" dirty="0">
                <a:solidFill>
                  <a:srgbClr val="5B2C9E"/>
                </a:solidFill>
                <a:latin typeface="Segoe UI"/>
              </a:rPr>
              <a:t>50 premium requests/mês  ·  2.000 completions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6A8C3FC-C9E9-2844-B3EB-764084974200}"/>
              </a:ext>
            </a:extLst>
          </p:cNvPr>
          <p:cNvSpPr/>
          <p:nvPr/>
        </p:nvSpPr>
        <p:spPr>
          <a:xfrm>
            <a:off x="6350000" y="1850941"/>
            <a:ext cx="5080000" cy="3175000"/>
          </a:xfrm>
          <a:prstGeom prst="round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535DBA-6065-2E46-979F-10E88A524ED4}"/>
              </a:ext>
            </a:extLst>
          </p:cNvPr>
          <p:cNvSpPr txBox="1"/>
          <p:nvPr/>
        </p:nvSpPr>
        <p:spPr>
          <a:xfrm>
            <a:off x="6731000" y="2168441"/>
            <a:ext cx="431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2E1058"/>
                </a:solidFill>
                <a:latin typeface="Segoe UI"/>
                <a:cs typeface="Segoe UI"/>
              </a:rPr>
              <a:t>Copilot Pro</a:t>
            </a:r>
            <a:endParaRPr lang="en-BR" sz="20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4B4768-CE26-7346-A4CF-553BC7A2E350}"/>
              </a:ext>
            </a:extLst>
          </p:cNvPr>
          <p:cNvSpPr txBox="1"/>
          <p:nvPr/>
        </p:nvSpPr>
        <p:spPr>
          <a:xfrm>
            <a:off x="6731000" y="2676441"/>
            <a:ext cx="431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2E1058"/>
                </a:solidFill>
                <a:latin typeface="Segoe UI"/>
                <a:cs typeface="Segoe UI"/>
              </a:rPr>
              <a:t>~R$ 55/mês</a:t>
            </a:r>
            <a:endParaRPr lang="en-BR" sz="3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1DE1BD-2608-2B41-8B06-BE8E260D706E}"/>
              </a:ext>
            </a:extLst>
          </p:cNvPr>
          <p:cNvSpPr/>
          <p:nvPr/>
        </p:nvSpPr>
        <p:spPr>
          <a:xfrm>
            <a:off x="6731000" y="3438441"/>
            <a:ext cx="4318000" cy="12700"/>
          </a:xfrm>
          <a:prstGeom prst="rect">
            <a:avLst/>
          </a:prstGeom>
          <a:solidFill>
            <a:srgbClr val="54AE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D93716-1D67-9247-87C7-5C4E86E114E3}"/>
              </a:ext>
            </a:extLst>
          </p:cNvPr>
          <p:cNvSpPr txBox="1"/>
          <p:nvPr/>
        </p:nvSpPr>
        <p:spPr>
          <a:xfrm>
            <a:off x="6731000" y="3628941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A5D6FF"/>
                </a:solidFill>
                <a:latin typeface="Segoe UI"/>
                <a:cs typeface="Segoe UI"/>
              </a:rPr>
              <a:t>Modelos incluídos</a:t>
            </a:r>
            <a:endParaRPr lang="en-BR" sz="1100" b="1">
              <a:solidFill>
                <a:srgbClr val="A5D6FF"/>
              </a:solidFill>
              <a:latin typeface="Segoe UI"/>
              <a:cs typeface="Segoe 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4EE675-1513-B24A-B1BB-A948EA8747BF}"/>
              </a:ext>
            </a:extLst>
          </p:cNvPr>
          <p:cNvSpPr txBox="1"/>
          <p:nvPr/>
        </p:nvSpPr>
        <p:spPr>
          <a:xfrm>
            <a:off x="6731000" y="3946441"/>
            <a:ext cx="431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E1058"/>
                </a:solidFill>
                <a:latin typeface="Segoe UI"/>
                <a:cs typeface="Segoe UI"/>
              </a:rPr>
              <a:t>GPT-5 mini · GPT-4.1 · GPT-4o</a:t>
            </a:r>
            <a:endParaRPr lang="en-BR" sz="15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A49FAD-994F-A648-8ABC-175AC97F75DD}"/>
              </a:ext>
            </a:extLst>
          </p:cNvPr>
          <p:cNvSpPr txBox="1"/>
          <p:nvPr/>
        </p:nvSpPr>
        <p:spPr>
          <a:xfrm>
            <a:off x="6731000" y="4390941"/>
            <a:ext cx="431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pt-BR" sz="1300" dirty="0">
                <a:solidFill>
                  <a:srgbClr val="DDEEFF"/>
                </a:solidFill>
                <a:latin typeface="Segoe UI"/>
              </a:rPr>
              <a:t>300 premium requests/mês  ·  completions ilimitados</a:t>
            </a:r>
          </a:p>
        </p:txBody>
      </p:sp>
      <p:sp>
        <p:nvSpPr>
          <p:cNvPr id="20" name="WarningCard">
            <a:extLst>
              <a:ext uri="{FF2B5EF4-FFF2-40B4-BE49-F238E27FC236}">
                <a16:creationId xmlns:a16="http://schemas.microsoft.com/office/drawing/2014/main" id="{C083A593-8FE8-414D-9D1C-473A39CACAC5}"/>
              </a:ext>
            </a:extLst>
          </p:cNvPr>
          <p:cNvSpPr/>
          <p:nvPr/>
        </p:nvSpPr>
        <p:spPr>
          <a:xfrm>
            <a:off x="508000" y="5203741"/>
            <a:ext cx="11176000" cy="1254642"/>
          </a:xfrm>
          <a:prstGeom prst="roundRect">
            <a:avLst/>
          </a:prstGeom>
          <a:solidFill>
            <a:srgbClr val="FFF8C5"/>
          </a:solidFill>
          <a:ln w="12700" cap="flat" cmpd="sng" algn="ctr">
            <a:solidFill>
              <a:srgbClr val="D4A72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65E6D35F-EB14-E545-91C7-78952C484D0C}"/>
              </a:ext>
            </a:extLst>
          </p:cNvPr>
          <p:cNvSpPr/>
          <p:nvPr/>
        </p:nvSpPr>
        <p:spPr>
          <a:xfrm>
            <a:off x="635000" y="5619881"/>
            <a:ext cx="508000" cy="422362"/>
          </a:xfrm>
          <a:prstGeom prst="triangle">
            <a:avLst/>
          </a:prstGeom>
          <a:solidFill>
            <a:srgbClr val="9A67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b" anchorCtr="0">
            <a:noAutofit/>
          </a:bodyPr>
          <a:lstStyle/>
          <a:p>
            <a:pPr algn="l"/>
            <a:r>
              <a:rPr lang="en-BR" sz="1400" b="1" dirty="0">
                <a:solidFill>
                  <a:srgbClr val="FFF8C5"/>
                </a:solidFill>
                <a:latin typeface="Segoe UI"/>
                <a:cs typeface="Segoe UI"/>
              </a:rPr>
              <a:t>!</a:t>
            </a:r>
          </a:p>
        </p:txBody>
      </p:sp>
      <p:sp>
        <p:nvSpPr>
          <p:cNvPr id="23" name="WarnTitle">
            <a:extLst>
              <a:ext uri="{FF2B5EF4-FFF2-40B4-BE49-F238E27FC236}">
                <a16:creationId xmlns:a16="http://schemas.microsoft.com/office/drawing/2014/main" id="{657AADAD-E1FC-E044-A9CB-ED3F24D11EE1}"/>
              </a:ext>
            </a:extLst>
          </p:cNvPr>
          <p:cNvSpPr txBox="1"/>
          <p:nvPr/>
        </p:nvSpPr>
        <p:spPr>
          <a:xfrm>
            <a:off x="1270000" y="5289681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 err="1">
                <a:solidFill>
                  <a:srgbClr val="633C01"/>
                </a:solidFill>
                <a:latin typeface="Segoe UI"/>
                <a:cs typeface="Segoe UI"/>
              </a:rPr>
              <a:t>Atenção</a:t>
            </a:r>
            <a:r>
              <a:rPr lang="en-US" sz="1400" b="1" dirty="0">
                <a:solidFill>
                  <a:srgbClr val="633C01"/>
                </a:solidFill>
                <a:latin typeface="Segoe UI"/>
                <a:cs typeface="Segoe UI"/>
              </a:rPr>
              <a:t>: </a:t>
            </a:r>
            <a:r>
              <a:rPr lang="en-US" sz="1400" b="1" dirty="0" err="1">
                <a:solidFill>
                  <a:srgbClr val="633C01"/>
                </a:solidFill>
                <a:latin typeface="Segoe UI"/>
                <a:cs typeface="Segoe UI"/>
              </a:rPr>
              <a:t>precificação</a:t>
            </a:r>
            <a:r>
              <a:rPr lang="en-US" sz="1400" b="1" dirty="0">
                <a:solidFill>
                  <a:srgbClr val="633C01"/>
                </a:solidFill>
                <a:latin typeface="Segoe UI"/>
                <a:cs typeface="Segoe UI"/>
              </a:rPr>
              <a:t> </a:t>
            </a:r>
            <a:r>
              <a:rPr lang="en-US" sz="1400" b="1" dirty="0" err="1">
                <a:solidFill>
                  <a:srgbClr val="633C01"/>
                </a:solidFill>
                <a:latin typeface="Segoe UI"/>
                <a:cs typeface="Segoe UI"/>
              </a:rPr>
              <a:t>muda</a:t>
            </a:r>
            <a:r>
              <a:rPr lang="en-US" sz="1400" b="1" dirty="0">
                <a:solidFill>
                  <a:srgbClr val="633C01"/>
                </a:solidFill>
                <a:latin typeface="Segoe UI"/>
                <a:cs typeface="Segoe UI"/>
              </a:rPr>
              <a:t> </a:t>
            </a:r>
            <a:r>
              <a:rPr lang="en-US" sz="1400" b="1" dirty="0" err="1">
                <a:solidFill>
                  <a:srgbClr val="633C01"/>
                </a:solidFill>
                <a:latin typeface="Segoe UI"/>
                <a:cs typeface="Segoe UI"/>
              </a:rPr>
              <a:t>em</a:t>
            </a:r>
            <a:r>
              <a:rPr lang="en-US" sz="1400" b="1" dirty="0">
                <a:solidFill>
                  <a:srgbClr val="633C01"/>
                </a:solidFill>
                <a:latin typeface="Segoe UI"/>
                <a:cs typeface="Segoe UI"/>
              </a:rPr>
              <a:t> 1/</a:t>
            </a:r>
            <a:r>
              <a:rPr lang="en-US" sz="1400" b="1" dirty="0" err="1">
                <a:solidFill>
                  <a:srgbClr val="633C01"/>
                </a:solidFill>
                <a:latin typeface="Segoe UI"/>
                <a:cs typeface="Segoe UI"/>
              </a:rPr>
              <a:t>junho</a:t>
            </a:r>
            <a:r>
              <a:rPr lang="en-US" sz="1400" b="1" dirty="0">
                <a:solidFill>
                  <a:srgbClr val="633C01"/>
                </a:solidFill>
                <a:latin typeface="Segoe UI"/>
                <a:cs typeface="Segoe UI"/>
              </a:rPr>
              <a:t>/2026</a:t>
            </a:r>
            <a:endParaRPr lang="en-BR" sz="1400" b="1" dirty="0">
              <a:solidFill>
                <a:srgbClr val="633C01"/>
              </a:solidFill>
              <a:latin typeface="Segoe UI"/>
              <a:cs typeface="Segoe UI"/>
            </a:endParaRPr>
          </a:p>
        </p:txBody>
      </p:sp>
      <p:sp>
        <p:nvSpPr>
          <p:cNvPr id="24" name="WarnBody">
            <a:extLst>
              <a:ext uri="{FF2B5EF4-FFF2-40B4-BE49-F238E27FC236}">
                <a16:creationId xmlns:a16="http://schemas.microsoft.com/office/drawing/2014/main" id="{D5EEC930-747D-2B4C-BCCD-F6CB96AC8EEC}"/>
              </a:ext>
            </a:extLst>
          </p:cNvPr>
          <p:cNvSpPr txBox="1"/>
          <p:nvPr/>
        </p:nvSpPr>
        <p:spPr>
          <a:xfrm>
            <a:off x="1270000" y="5594481"/>
            <a:ext cx="10414000" cy="73956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200" dirty="0">
                <a:solidFill>
                  <a:srgbClr val="633C01"/>
                </a:solidFill>
                <a:latin typeface="Segoe UI"/>
                <a:cs typeface="Segoe UI"/>
              </a:rPr>
              <a:t>GitHub </a:t>
            </a:r>
            <a:r>
              <a:rPr lang="en-US" sz="1200" dirty="0" err="1">
                <a:solidFill>
                  <a:srgbClr val="633C01"/>
                </a:solidFill>
                <a:latin typeface="Segoe UI"/>
                <a:cs typeface="Segoe UI"/>
              </a:rPr>
              <a:t>muda</a:t>
            </a:r>
            <a:r>
              <a:rPr lang="en-US" sz="1200" dirty="0">
                <a:solidFill>
                  <a:srgbClr val="633C01"/>
                </a:solidFill>
                <a:latin typeface="Segoe UI"/>
                <a:cs typeface="Segoe UI"/>
              </a:rPr>
              <a:t> para </a:t>
            </a:r>
            <a:r>
              <a:rPr lang="en-US" sz="1200" dirty="0" err="1">
                <a:solidFill>
                  <a:srgbClr val="633C01"/>
                </a:solidFill>
                <a:latin typeface="Segoe UI"/>
                <a:cs typeface="Segoe UI"/>
              </a:rPr>
              <a:t>cobrança</a:t>
            </a:r>
            <a:r>
              <a:rPr lang="en-US" sz="1200" dirty="0">
                <a:solidFill>
                  <a:srgbClr val="633C01"/>
                </a:solidFill>
                <a:latin typeface="Segoe UI"/>
                <a:cs typeface="Segoe UI"/>
              </a:rPr>
              <a:t> </a:t>
            </a:r>
            <a:r>
              <a:rPr lang="en-US" sz="1200" dirty="0" err="1">
                <a:solidFill>
                  <a:srgbClr val="633C01"/>
                </a:solidFill>
                <a:latin typeface="Segoe UI"/>
                <a:cs typeface="Segoe UI"/>
              </a:rPr>
              <a:t>por</a:t>
            </a:r>
            <a:r>
              <a:rPr lang="en-US" sz="1200" dirty="0">
                <a:solidFill>
                  <a:srgbClr val="633C01"/>
                </a:solidFill>
                <a:latin typeface="Segoe UI"/>
                <a:cs typeface="Segoe UI"/>
              </a:rPr>
              <a:t> AI Credits/tokens. Pro segue </a:t>
            </a:r>
            <a:r>
              <a:rPr lang="en-US" sz="1200" dirty="0" err="1">
                <a:solidFill>
                  <a:srgbClr val="633C01"/>
                </a:solidFill>
                <a:latin typeface="Segoe UI"/>
                <a:cs typeface="Segoe UI"/>
              </a:rPr>
              <a:t>em</a:t>
            </a:r>
            <a:r>
              <a:rPr lang="en-US" sz="1200" dirty="0">
                <a:solidFill>
                  <a:srgbClr val="633C01"/>
                </a:solidFill>
                <a:latin typeface="Segoe UI"/>
                <a:cs typeface="Segoe UI"/>
              </a:rPr>
              <a:t> US$ 10/</a:t>
            </a:r>
            <a:r>
              <a:rPr lang="en-US" sz="1200" dirty="0" err="1">
                <a:solidFill>
                  <a:srgbClr val="633C01"/>
                </a:solidFill>
                <a:latin typeface="Segoe UI"/>
                <a:cs typeface="Segoe UI"/>
              </a:rPr>
              <a:t>mês</a:t>
            </a:r>
            <a:r>
              <a:rPr lang="en-US" sz="1200" dirty="0">
                <a:solidFill>
                  <a:srgbClr val="633C01"/>
                </a:solidFill>
                <a:latin typeface="Segoe UI"/>
                <a:cs typeface="Segoe UI"/>
              </a:rPr>
              <a:t> com US$ 10 </a:t>
            </a:r>
            <a:r>
              <a:rPr lang="en-US" sz="1200" dirty="0" err="1">
                <a:solidFill>
                  <a:srgbClr val="633C01"/>
                </a:solidFill>
                <a:latin typeface="Segoe UI"/>
                <a:cs typeface="Segoe UI"/>
              </a:rPr>
              <a:t>em</a:t>
            </a:r>
            <a:r>
              <a:rPr lang="en-US" sz="1200" dirty="0">
                <a:solidFill>
                  <a:srgbClr val="633C01"/>
                </a:solidFill>
                <a:latin typeface="Segoe UI"/>
                <a:cs typeface="Segoe UI"/>
              </a:rPr>
              <a:t> </a:t>
            </a:r>
            <a:r>
              <a:rPr lang="en-US" sz="1200" dirty="0" err="1">
                <a:solidFill>
                  <a:srgbClr val="633C01"/>
                </a:solidFill>
                <a:latin typeface="Segoe UI"/>
                <a:cs typeface="Segoe UI"/>
              </a:rPr>
              <a:t>créditos</a:t>
            </a:r>
            <a:r>
              <a:rPr lang="en-US" sz="1200" dirty="0">
                <a:solidFill>
                  <a:srgbClr val="633C01"/>
                </a:solidFill>
                <a:latin typeface="Segoe UI"/>
                <a:cs typeface="Segoe UI"/>
              </a:rPr>
              <a:t> + US$ 5 flex.</a:t>
            </a:r>
            <a:br>
              <a:rPr lang="en-US" sz="1200" dirty="0">
                <a:solidFill>
                  <a:srgbClr val="633C01"/>
                </a:solidFill>
                <a:latin typeface="Segoe UI"/>
                <a:cs typeface="Segoe UI"/>
              </a:rPr>
            </a:br>
            <a:endParaRPr lang="en-US" sz="1200" dirty="0">
              <a:solidFill>
                <a:srgbClr val="633C01"/>
              </a:solidFill>
              <a:latin typeface="Segoe UI"/>
              <a:cs typeface="Segoe UI"/>
            </a:endParaRPr>
          </a:p>
          <a:p>
            <a:r>
              <a:rPr lang="en-US" sz="1200" b="1" dirty="0">
                <a:solidFill>
                  <a:srgbClr val="633C01"/>
                </a:solidFill>
                <a:cs typeface="Segoe UI"/>
              </a:rPr>
              <a:t>https://</a:t>
            </a:r>
            <a:r>
              <a:rPr lang="en-US" sz="1200" b="1" dirty="0" err="1">
                <a:solidFill>
                  <a:srgbClr val="633C01"/>
                </a:solidFill>
                <a:cs typeface="Segoe UI"/>
              </a:rPr>
              <a:t>github.blog</a:t>
            </a:r>
            <a:r>
              <a:rPr lang="en-US" sz="1200" b="1" dirty="0">
                <a:solidFill>
                  <a:srgbClr val="633C01"/>
                </a:solidFill>
                <a:cs typeface="Segoe UI"/>
              </a:rPr>
              <a:t>/news-insights/company-news/github-copilot-individual-plans-introducing-flex-allotments-in-pro-and-pro-and-a-new-max-plan</a:t>
            </a:r>
            <a:endParaRPr lang="en-BR" sz="1200" b="1" dirty="0">
              <a:solidFill>
                <a:srgbClr val="633C01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528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6AE5F7-96C4-FA41-8882-B913298AD9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0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7C8CF8-173B-6844-B2BE-B0BEE20701E8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D1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41446-0BE9-0E48-826F-322566B6240E}"/>
              </a:ext>
            </a:extLst>
          </p:cNvPr>
          <p:cNvSpPr txBox="1"/>
          <p:nvPr/>
        </p:nvSpPr>
        <p:spPr>
          <a:xfrm>
            <a:off x="1016000" y="16510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A657"/>
                </a:solidFill>
                <a:latin typeface="Segoe UI"/>
                <a:cs typeface="Segoe UI"/>
              </a:rPr>
              <a:t>DEMO AO VIVO</a:t>
            </a:r>
            <a:endParaRPr lang="en-BR" sz="1400" b="1">
              <a:solidFill>
                <a:srgbClr val="FFA657"/>
              </a:solidFill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03F77-5AB1-6640-98C4-55E3BA7F5D2E}"/>
              </a:ext>
            </a:extLst>
          </p:cNvPr>
          <p:cNvSpPr txBox="1"/>
          <p:nvPr/>
        </p:nvSpPr>
        <p:spPr>
          <a:xfrm>
            <a:off x="1016000" y="2159000"/>
            <a:ext cx="1016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BR" sz="5600" b="1">
                <a:solidFill>
                  <a:srgbClr val="E6EDF3"/>
                </a:solidFill>
                <a:latin typeface="Segoe UI"/>
                <a:cs typeface="Segoe UI"/>
              </a:rPr>
              <a:t>🎬  </a:t>
            </a:r>
            <a:r>
              <a:rPr lang="en-US" sz="5600" b="1">
                <a:solidFill>
                  <a:srgbClr val="E6EDF3"/>
                </a:solidFill>
                <a:latin typeface="Segoe UI"/>
                <a:cs typeface="Segoe UI"/>
              </a:rPr>
              <a:t>Spec → API C# .NET</a:t>
            </a:r>
            <a:endParaRPr lang="en-BR" sz="5600" b="1">
              <a:solidFill>
                <a:srgbClr val="E6EDF3"/>
              </a:solidFill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46B9F-BCC3-1A46-9839-B5EB5C764435}"/>
              </a:ext>
            </a:extLst>
          </p:cNvPr>
          <p:cNvSpPr txBox="1"/>
          <p:nvPr/>
        </p:nvSpPr>
        <p:spPr>
          <a:xfrm>
            <a:off x="1016000" y="3302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>
                <a:solidFill>
                  <a:srgbClr val="B794E6"/>
                </a:solidFill>
                <a:latin typeface="Segoe UI"/>
                <a:cs typeface="Segoe UI"/>
              </a:rPr>
              <a:t>com GitHub Copilot</a:t>
            </a:r>
            <a:endParaRPr lang="en-BR" sz="2600">
              <a:solidFill>
                <a:srgbClr val="B794E6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6ED009-086D-9240-85A1-E16A647318BC}"/>
              </a:ext>
            </a:extLst>
          </p:cNvPr>
          <p:cNvSpPr txBox="1"/>
          <p:nvPr/>
        </p:nvSpPr>
        <p:spPr>
          <a:xfrm>
            <a:off x="1016000" y="45720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B8A2D9"/>
                </a:solidFill>
                <a:latin typeface="Segoe UI"/>
                <a:cs typeface="Segoe UI"/>
              </a:rPr>
              <a:t>DOMÍNIO</a:t>
            </a:r>
            <a:endParaRPr lang="en-BR" sz="1100" b="1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C8AF7C-8E87-3E45-9FFB-29F8ABCDAA3F}"/>
              </a:ext>
            </a:extLst>
          </p:cNvPr>
          <p:cNvSpPr txBox="1"/>
          <p:nvPr/>
        </p:nvSpPr>
        <p:spPr>
          <a:xfrm>
            <a:off x="3048000" y="4572000"/>
            <a:ext cx="812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E6EDF3"/>
                </a:solidFill>
                <a:latin typeface="Segoe UI"/>
                <a:cs typeface="Segoe UI"/>
              </a:rPr>
              <a:t>API de eventos e ingressos</a:t>
            </a:r>
            <a:endParaRPr lang="en-BR" sz="1600">
              <a:solidFill>
                <a:srgbClr val="E6EDF3"/>
              </a:solidFill>
              <a:latin typeface="Segoe UI"/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5320E0-3A52-5347-9BB5-2F1C280D4A88}"/>
              </a:ext>
            </a:extLst>
          </p:cNvPr>
          <p:cNvSpPr txBox="1"/>
          <p:nvPr/>
        </p:nvSpPr>
        <p:spPr>
          <a:xfrm>
            <a:off x="1016000" y="50292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B8A2D9"/>
                </a:solidFill>
                <a:latin typeface="Segoe UI"/>
                <a:cs typeface="Segoe UI"/>
              </a:rPr>
              <a:t>STACK</a:t>
            </a:r>
            <a:endParaRPr lang="en-BR" sz="1100" b="1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689B5F-4ECE-9F41-81D9-3B9A26B51505}"/>
              </a:ext>
            </a:extLst>
          </p:cNvPr>
          <p:cNvSpPr txBox="1"/>
          <p:nvPr/>
        </p:nvSpPr>
        <p:spPr>
          <a:xfrm>
            <a:off x="3048000" y="5029200"/>
            <a:ext cx="812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dirty="0">
                <a:solidFill>
                  <a:srgbClr val="E6EDF3"/>
                </a:solidFill>
                <a:latin typeface="Segoe UI"/>
                <a:cs typeface="Segoe UI"/>
              </a:rPr>
              <a:t>C# .NET 10 · VS Code · GPT-5-mini</a:t>
            </a:r>
            <a:endParaRPr lang="en-BR" sz="1600" dirty="0">
              <a:solidFill>
                <a:srgbClr val="E6EDF3"/>
              </a:solidFill>
              <a:latin typeface="Segoe UI"/>
              <a:cs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866EAA-47B7-A244-967F-19C236CF8C4D}"/>
              </a:ext>
            </a:extLst>
          </p:cNvPr>
          <p:cNvSpPr txBox="1"/>
          <p:nvPr/>
        </p:nvSpPr>
        <p:spPr>
          <a:xfrm>
            <a:off x="1016000" y="54864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B8A2D9"/>
                </a:solidFill>
                <a:latin typeface="Segoe UI"/>
                <a:cs typeface="Segoe UI"/>
              </a:rPr>
              <a:t>MODELOS</a:t>
            </a:r>
            <a:endParaRPr lang="en-BR" sz="1100" b="1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EBCECD-F864-694D-808A-39F135A6871E}"/>
              </a:ext>
            </a:extLst>
          </p:cNvPr>
          <p:cNvSpPr txBox="1"/>
          <p:nvPr/>
        </p:nvSpPr>
        <p:spPr>
          <a:xfrm>
            <a:off x="3048000" y="5486400"/>
            <a:ext cx="812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dirty="0" err="1">
                <a:solidFill>
                  <a:srgbClr val="E6EDF3"/>
                </a:solidFill>
                <a:latin typeface="Segoe UI"/>
                <a:cs typeface="Segoe UI"/>
              </a:rPr>
              <a:t>Incluídos</a:t>
            </a:r>
            <a:r>
              <a:rPr lang="en-US" sz="1600" dirty="0">
                <a:solidFill>
                  <a:srgbClr val="E6EDF3"/>
                </a:solidFill>
                <a:latin typeface="Segoe UI"/>
                <a:cs typeface="Segoe UI"/>
              </a:rPr>
              <a:t> no Copilot e Copilot Pro</a:t>
            </a:r>
            <a:endParaRPr lang="en-BR" sz="1600" dirty="0">
              <a:solidFill>
                <a:srgbClr val="E6EDF3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55781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361B82-0A74-D54D-BB76-AD78BF23431C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E0F6E-CF7F-3945-A10D-7D5BA8530D02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Segoe UI"/>
                <a:cs typeface="Segoe UI"/>
              </a:rPr>
              <a:t>O que Vamos Construir</a:t>
            </a:r>
            <a:endParaRPr lang="en-BR" sz="3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DB263F-9B51-744C-8C04-53D3EAD512A3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5" name="BuildTag">
            <a:extLst>
              <a:ext uri="{FF2B5EF4-FFF2-40B4-BE49-F238E27FC236}">
                <a16:creationId xmlns:a16="http://schemas.microsoft.com/office/drawing/2014/main" id="{C14593AC-4878-0C48-A6D2-AAEAD59E87F7}"/>
              </a:ext>
            </a:extLst>
          </p:cNvPr>
          <p:cNvSpPr txBox="1"/>
          <p:nvPr/>
        </p:nvSpPr>
        <p:spPr>
          <a:xfrm>
            <a:off x="508000" y="19685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pt-BR" sz="1600" dirty="0">
                <a:solidFill>
                  <a:srgbClr val="E6DDF5"/>
                </a:solidFill>
                <a:latin typeface="Segoe UI"/>
              </a:rPr>
              <a:t>Meetup Events API — uma API para gerenciar eventos como este 🎉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A60DCDA-5D58-594C-89E3-07D6611F637D}"/>
              </a:ext>
            </a:extLst>
          </p:cNvPr>
          <p:cNvSpPr/>
          <p:nvPr/>
        </p:nvSpPr>
        <p:spPr>
          <a:xfrm>
            <a:off x="508000" y="2540000"/>
            <a:ext cx="5461000" cy="3810000"/>
          </a:xfrm>
          <a:prstGeom prst="roundRect">
            <a:avLst/>
          </a:prstGeom>
          <a:solidFill>
            <a:srgbClr val="5B2C9E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B00578-E3F0-8946-90DC-7643A0F5B2D6}"/>
              </a:ext>
            </a:extLst>
          </p:cNvPr>
          <p:cNvSpPr txBox="1"/>
          <p:nvPr/>
        </p:nvSpPr>
        <p:spPr>
          <a:xfrm>
            <a:off x="762000" y="27940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F883D"/>
                </a:solidFill>
                <a:latin typeface="Segoe UI"/>
                <a:cs typeface="Segoe UI"/>
              </a:rPr>
              <a:t>Entidades</a:t>
            </a:r>
            <a:endParaRPr lang="en-BR" b="1">
              <a:solidFill>
                <a:srgbClr val="1F883D"/>
              </a:solidFill>
              <a:latin typeface="Segoe UI"/>
              <a:cs typeface="Segoe UI"/>
            </a:endParaRPr>
          </a:p>
        </p:txBody>
      </p:sp>
      <p:sp>
        <p:nvSpPr>
          <p:cNvPr id="9" name="EntitiesBody">
            <a:extLst>
              <a:ext uri="{FF2B5EF4-FFF2-40B4-BE49-F238E27FC236}">
                <a16:creationId xmlns:a16="http://schemas.microsoft.com/office/drawing/2014/main" id="{1F59597E-BDF7-E94C-9504-D28B60466B36}"/>
              </a:ext>
            </a:extLst>
          </p:cNvPr>
          <p:cNvSpPr txBox="1"/>
          <p:nvPr/>
        </p:nvSpPr>
        <p:spPr>
          <a:xfrm>
            <a:off x="762000" y="3238500"/>
            <a:ext cx="49530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1F883D"/>
                </a:solidFill>
                <a:latin typeface="Consolas"/>
              </a:rPr>
              <a:t>Event</a:t>
            </a:r>
          </a:p>
          <a:p>
            <a:pPr marL="171450" indent="-171450">
              <a:lnSpc>
                <a:spcPts val="1700"/>
              </a:lnSpc>
              <a:buClr>
                <a:srgbClr val="1F883D"/>
              </a:buClr>
              <a:buFont typeface="Arial"/>
              <a:buChar char="▸"/>
            </a:pPr>
            <a:r>
              <a:rPr lang="pt-BR" sz="1300" dirty="0">
                <a:solidFill>
                  <a:srgbClr val="E6DDF5"/>
                </a:solidFill>
                <a:latin typeface="Consolas"/>
              </a:rPr>
              <a:t>id, name, description, date</a:t>
            </a:r>
          </a:p>
          <a:p>
            <a:pPr marL="171450" indent="-171450">
              <a:lnSpc>
                <a:spcPts val="1700"/>
              </a:lnSpc>
              <a:buClr>
                <a:srgbClr val="1F883D"/>
              </a:buClr>
              <a:buFont typeface="Arial"/>
              <a:buChar char="▸"/>
            </a:pPr>
            <a:r>
              <a:rPr lang="pt-BR" sz="1300" dirty="0">
                <a:solidFill>
                  <a:srgbClr val="E6DDF5"/>
                </a:solidFill>
                <a:latin typeface="Consolas"/>
              </a:rPr>
              <a:t>location, capacity, availableSpots</a:t>
            </a:r>
          </a:p>
          <a:p>
            <a:pPr marL="171450" indent="-171450">
              <a:lnSpc>
                <a:spcPts val="1700"/>
              </a:lnSpc>
              <a:buClr>
                <a:srgbClr val="1F883D"/>
              </a:buClr>
              <a:buFont typeface="Arial"/>
              <a:buChar char="▸"/>
            </a:pPr>
            <a:r>
              <a:rPr lang="pt-BR" sz="1300" dirty="0">
                <a:solidFill>
                  <a:srgbClr val="E6DDF5"/>
                </a:solidFill>
                <a:latin typeface="Consolas"/>
              </a:rPr>
              <a:t>ticketPrice, status</a:t>
            </a:r>
          </a:p>
          <a:p>
            <a:pPr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1F883D"/>
                </a:solidFill>
                <a:latin typeface="Consolas"/>
              </a:rPr>
              <a:t>Ticket</a:t>
            </a:r>
          </a:p>
          <a:p>
            <a:pPr marL="171450" indent="-171450">
              <a:lnSpc>
                <a:spcPts val="1700"/>
              </a:lnSpc>
              <a:buClr>
                <a:srgbClr val="1F883D"/>
              </a:buClr>
              <a:buFont typeface="Arial"/>
              <a:buChar char="▸"/>
            </a:pPr>
            <a:r>
              <a:rPr lang="pt-BR" sz="1300" dirty="0">
                <a:solidFill>
                  <a:srgbClr val="E6DDF5"/>
                </a:solidFill>
                <a:latin typeface="Consolas"/>
              </a:rPr>
              <a:t>id, eventId, buyerName</a:t>
            </a:r>
          </a:p>
          <a:p>
            <a:pPr marL="171450" indent="-171450">
              <a:lnSpc>
                <a:spcPts val="1700"/>
              </a:lnSpc>
              <a:buClr>
                <a:srgbClr val="1F883D"/>
              </a:buClr>
              <a:buFont typeface="Arial"/>
              <a:buChar char="▸"/>
            </a:pPr>
            <a:r>
              <a:rPr lang="pt-BR" sz="1300" dirty="0">
                <a:solidFill>
                  <a:srgbClr val="E6DDF5"/>
                </a:solidFill>
                <a:latin typeface="Consolas"/>
              </a:rPr>
              <a:t>buyerEmail, purchaseDate, status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DEE0295-7D44-A548-B0AA-BBC4D58F8530}"/>
              </a:ext>
            </a:extLst>
          </p:cNvPr>
          <p:cNvSpPr/>
          <p:nvPr/>
        </p:nvSpPr>
        <p:spPr>
          <a:xfrm>
            <a:off x="6223000" y="2540000"/>
            <a:ext cx="5461000" cy="3810000"/>
          </a:xfrm>
          <a:prstGeom prst="roundRect">
            <a:avLst/>
          </a:prstGeom>
          <a:solidFill>
            <a:srgbClr val="5B2C9E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5D793E-D198-5648-96F0-AFB330C32ECF}"/>
              </a:ext>
            </a:extLst>
          </p:cNvPr>
          <p:cNvSpPr txBox="1"/>
          <p:nvPr/>
        </p:nvSpPr>
        <p:spPr>
          <a:xfrm>
            <a:off x="6477000" y="27940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Endpoints</a:t>
            </a:r>
            <a:endParaRPr lang="en-BR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3" name="EndpointsBody">
            <a:extLst>
              <a:ext uri="{FF2B5EF4-FFF2-40B4-BE49-F238E27FC236}">
                <a16:creationId xmlns:a16="http://schemas.microsoft.com/office/drawing/2014/main" id="{12E7D6D8-7B82-274E-8CF3-E6EFA321019F}"/>
              </a:ext>
            </a:extLst>
          </p:cNvPr>
          <p:cNvSpPr txBox="1"/>
          <p:nvPr/>
        </p:nvSpPr>
        <p:spPr>
          <a:xfrm>
            <a:off x="6477000" y="3238500"/>
            <a:ext cx="49530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ts val="2000"/>
              </a:lnSpc>
              <a:buClr>
                <a:srgbClr val="FFFFFF"/>
              </a:buClr>
              <a:buFont typeface="Arial"/>
              <a:buChar char="▸"/>
            </a:pPr>
            <a:r>
              <a:rPr lang="pt-BR" sz="1300" b="1" dirty="0">
                <a:solidFill>
                  <a:srgbClr val="1F883D"/>
                </a:solidFill>
                <a:latin typeface="Consolas"/>
              </a:rPr>
              <a:t>GET</a:t>
            </a:r>
            <a:r>
              <a:rPr lang="pt-BR" sz="1300" dirty="0">
                <a:solidFill>
                  <a:srgbClr val="E6DDF5"/>
                </a:solidFill>
                <a:latin typeface="Consolas"/>
              </a:rPr>
              <a:t>  /events</a:t>
            </a:r>
          </a:p>
          <a:p>
            <a:pPr marL="171450" indent="-171450">
              <a:lnSpc>
                <a:spcPts val="2000"/>
              </a:lnSpc>
              <a:buClr>
                <a:srgbClr val="FFFFFF"/>
              </a:buClr>
              <a:buFont typeface="Arial"/>
              <a:buChar char="▸"/>
            </a:pPr>
            <a:r>
              <a:rPr lang="pt-BR" sz="1300" b="1" dirty="0">
                <a:solidFill>
                  <a:srgbClr val="FFFFFF"/>
                </a:solidFill>
                <a:latin typeface="Consolas"/>
              </a:rPr>
              <a:t>POST</a:t>
            </a:r>
            <a:r>
              <a:rPr lang="pt-BR" sz="1300" dirty="0">
                <a:solidFill>
                  <a:srgbClr val="E6DDF5"/>
                </a:solidFill>
                <a:latin typeface="Consolas"/>
              </a:rPr>
              <a:t>  /events</a:t>
            </a:r>
          </a:p>
          <a:p>
            <a:pPr marL="171450" indent="-171450">
              <a:lnSpc>
                <a:spcPts val="2000"/>
              </a:lnSpc>
              <a:buClr>
                <a:srgbClr val="FFFFFF"/>
              </a:buClr>
              <a:buFont typeface="Arial"/>
              <a:buChar char="▸"/>
            </a:pPr>
            <a:r>
              <a:rPr lang="pt-BR" sz="1300" b="1" dirty="0">
                <a:solidFill>
                  <a:srgbClr val="1F883D"/>
                </a:solidFill>
                <a:latin typeface="Consolas"/>
              </a:rPr>
              <a:t>GET</a:t>
            </a:r>
            <a:r>
              <a:rPr lang="pt-BR" sz="1300" dirty="0">
                <a:solidFill>
                  <a:srgbClr val="E6DDF5"/>
                </a:solidFill>
                <a:latin typeface="Consolas"/>
              </a:rPr>
              <a:t>  /events/{id}</a:t>
            </a:r>
          </a:p>
          <a:p>
            <a:pPr marL="171450" indent="-171450">
              <a:lnSpc>
                <a:spcPts val="2000"/>
              </a:lnSpc>
              <a:buClr>
                <a:srgbClr val="FFFFFF"/>
              </a:buClr>
              <a:buFont typeface="Arial"/>
              <a:buChar char="▸"/>
            </a:pPr>
            <a:r>
              <a:rPr lang="pt-BR" sz="1300" b="1" dirty="0">
                <a:solidFill>
                  <a:srgbClr val="FFD166"/>
                </a:solidFill>
                <a:latin typeface="Consolas"/>
              </a:rPr>
              <a:t>PUT</a:t>
            </a:r>
            <a:r>
              <a:rPr lang="pt-BR" sz="1300" dirty="0">
                <a:solidFill>
                  <a:srgbClr val="E6DDF5"/>
                </a:solidFill>
                <a:latin typeface="Consolas"/>
              </a:rPr>
              <a:t>  /events/{id}</a:t>
            </a:r>
          </a:p>
          <a:p>
            <a:pPr marL="171450" indent="-171450">
              <a:lnSpc>
                <a:spcPts val="2000"/>
              </a:lnSpc>
              <a:buClr>
                <a:srgbClr val="FFFFFF"/>
              </a:buClr>
              <a:buFont typeface="Arial"/>
              <a:buChar char="▸"/>
            </a:pPr>
            <a:r>
              <a:rPr lang="pt-BR" sz="1300" b="1" dirty="0">
                <a:solidFill>
                  <a:srgbClr val="CF222E"/>
                </a:solidFill>
                <a:latin typeface="Consolas"/>
              </a:rPr>
              <a:t>DELETE</a:t>
            </a:r>
            <a:r>
              <a:rPr lang="pt-BR" sz="1300" dirty="0">
                <a:solidFill>
                  <a:srgbClr val="E6DDF5"/>
                </a:solidFill>
                <a:latin typeface="Consolas"/>
              </a:rPr>
              <a:t>  /events/{id}</a:t>
            </a:r>
          </a:p>
          <a:p>
            <a:pPr marL="171450" indent="-171450">
              <a:lnSpc>
                <a:spcPts val="2000"/>
              </a:lnSpc>
              <a:buClr>
                <a:srgbClr val="FFFFFF"/>
              </a:buClr>
              <a:buFont typeface="Arial"/>
              <a:buChar char="▸"/>
            </a:pPr>
            <a:r>
              <a:rPr lang="pt-BR" sz="1300" b="1" dirty="0">
                <a:solidFill>
                  <a:srgbClr val="1F883D"/>
                </a:solidFill>
                <a:latin typeface="Consolas"/>
              </a:rPr>
              <a:t>GET</a:t>
            </a:r>
            <a:r>
              <a:rPr lang="pt-BR" sz="1300" dirty="0">
                <a:solidFill>
                  <a:srgbClr val="E6DDF5"/>
                </a:solidFill>
                <a:latin typeface="Consolas"/>
              </a:rPr>
              <a:t>  /events/{id}/tickets</a:t>
            </a:r>
          </a:p>
          <a:p>
            <a:pPr marL="171450" indent="-171450">
              <a:lnSpc>
                <a:spcPts val="2000"/>
              </a:lnSpc>
              <a:buClr>
                <a:srgbClr val="FFFFFF"/>
              </a:buClr>
              <a:buFont typeface="Arial"/>
              <a:buChar char="▸"/>
            </a:pPr>
            <a:r>
              <a:rPr lang="pt-BR" sz="1300" b="1" dirty="0">
                <a:solidFill>
                  <a:srgbClr val="FFFFFF"/>
                </a:solidFill>
                <a:latin typeface="Consolas"/>
              </a:rPr>
              <a:t>POST</a:t>
            </a:r>
            <a:r>
              <a:rPr lang="pt-BR" sz="1300" dirty="0">
                <a:solidFill>
                  <a:srgbClr val="E6DDF5"/>
                </a:solidFill>
                <a:latin typeface="Consolas"/>
              </a:rPr>
              <a:t>  /events/{id}/tickets</a:t>
            </a:r>
          </a:p>
        </p:txBody>
      </p:sp>
    </p:spTree>
    <p:extLst>
      <p:ext uri="{BB962C8B-B14F-4D97-AF65-F5344CB8AC3E}">
        <p14:creationId xmlns:p14="http://schemas.microsoft.com/office/powerpoint/2010/main" val="4027488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E08555-B3DA-3F45-949C-E5B770D2C411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  ·  DEMO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EE72157-1906-614A-ADB7-DF60E3B1EE07}"/>
              </a:ext>
            </a:extLst>
          </p:cNvPr>
          <p:cNvSpPr/>
          <p:nvPr/>
        </p:nvSpPr>
        <p:spPr>
          <a:xfrm>
            <a:off x="508000" y="889000"/>
            <a:ext cx="1651000" cy="381000"/>
          </a:xfrm>
          <a:prstGeom prst="roundRect">
            <a:avLst/>
          </a:prstGeom>
          <a:solidFill>
            <a:srgbClr val="1F88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  <a:cs typeface="Segoe UI"/>
              </a:rPr>
              <a:t>FASE 1  ·  8 min</a:t>
            </a:r>
            <a:endParaRPr lang="en-BR" sz="12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11E651-034E-2E4E-A0D2-6BBA91B16E60}"/>
              </a:ext>
            </a:extLst>
          </p:cNvPr>
          <p:cNvSpPr txBox="1"/>
          <p:nvPr/>
        </p:nvSpPr>
        <p:spPr>
          <a:xfrm>
            <a:off x="508000" y="1397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Segoe UI"/>
                <a:cs typeface="Segoe UI"/>
              </a:rPr>
              <a:t>Criando a Spec</a:t>
            </a:r>
            <a:endParaRPr lang="en-BR" sz="3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41F017-55D6-924A-9331-73F766BB1E71}"/>
              </a:ext>
            </a:extLst>
          </p:cNvPr>
          <p:cNvSpPr/>
          <p:nvPr/>
        </p:nvSpPr>
        <p:spPr>
          <a:xfrm>
            <a:off x="508000" y="2095500"/>
            <a:ext cx="762000" cy="38100"/>
          </a:xfrm>
          <a:prstGeom prst="rect">
            <a:avLst/>
          </a:prstGeom>
          <a:solidFill>
            <a:srgbClr val="1F88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DCBB4D-7B87-BC4E-9AA9-9705E59A39D4}"/>
              </a:ext>
            </a:extLst>
          </p:cNvPr>
          <p:cNvSpPr/>
          <p:nvPr/>
        </p:nvSpPr>
        <p:spPr>
          <a:xfrm>
            <a:off x="508000" y="2540000"/>
            <a:ext cx="457200" cy="457200"/>
          </a:xfrm>
          <a:prstGeom prst="ellipse">
            <a:avLst/>
          </a:prstGeom>
          <a:solidFill>
            <a:srgbClr val="1F88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BR" sz="16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3234BC-C34D-B641-9DFE-8FB6ACE13F09}"/>
              </a:ext>
            </a:extLst>
          </p:cNvPr>
          <p:cNvSpPr txBox="1"/>
          <p:nvPr/>
        </p:nvSpPr>
        <p:spPr>
          <a:xfrm>
            <a:off x="1143000" y="2603500"/>
            <a:ext cx="533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Segoe UI"/>
                <a:cs typeface="Segoe UI"/>
              </a:rPr>
              <a:t>Criar estrutura do projeto</a:t>
            </a:r>
            <a:endParaRPr lang="en-BR" sz="140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E2C28AF-15B6-764A-B1A8-8783310F8FCA}"/>
              </a:ext>
            </a:extLst>
          </p:cNvPr>
          <p:cNvSpPr/>
          <p:nvPr/>
        </p:nvSpPr>
        <p:spPr>
          <a:xfrm>
            <a:off x="508000" y="3251200"/>
            <a:ext cx="457200" cy="457200"/>
          </a:xfrm>
          <a:prstGeom prst="ellipse">
            <a:avLst/>
          </a:prstGeom>
          <a:solidFill>
            <a:srgbClr val="1F88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BR" sz="16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5997B-BC91-FF41-8269-046A60991D91}"/>
              </a:ext>
            </a:extLst>
          </p:cNvPr>
          <p:cNvSpPr txBox="1"/>
          <p:nvPr/>
        </p:nvSpPr>
        <p:spPr>
          <a:xfrm>
            <a:off x="1143000" y="3314700"/>
            <a:ext cx="533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Segoe UI"/>
                <a:cs typeface="Segoe UI"/>
              </a:rPr>
              <a:t>Criar copilot-instructions.md — as regras para o Copilot</a:t>
            </a:r>
            <a:endParaRPr lang="en-BR" sz="140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64A4BC0-8795-FA4E-BB4C-2749A1EA3D96}"/>
              </a:ext>
            </a:extLst>
          </p:cNvPr>
          <p:cNvSpPr/>
          <p:nvPr/>
        </p:nvSpPr>
        <p:spPr>
          <a:xfrm>
            <a:off x="508000" y="3962400"/>
            <a:ext cx="457200" cy="457200"/>
          </a:xfrm>
          <a:prstGeom prst="ellipse">
            <a:avLst/>
          </a:prstGeom>
          <a:solidFill>
            <a:srgbClr val="1F88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BR" sz="16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8A8D16-A78B-254D-8BA2-D92EFC329D6B}"/>
              </a:ext>
            </a:extLst>
          </p:cNvPr>
          <p:cNvSpPr txBox="1"/>
          <p:nvPr/>
        </p:nvSpPr>
        <p:spPr>
          <a:xfrm>
            <a:off x="1143000" y="4025900"/>
            <a:ext cx="533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Segoe UI"/>
                <a:cs typeface="Segoe UI"/>
              </a:rPr>
              <a:t>Criar openapi.yaml — começar o cabeçalho, Copilot completa</a:t>
            </a:r>
            <a:endParaRPr lang="en-BR" sz="140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32593F3-EB3E-FA44-8CF4-8016F165A9A6}"/>
              </a:ext>
            </a:extLst>
          </p:cNvPr>
          <p:cNvSpPr/>
          <p:nvPr/>
        </p:nvSpPr>
        <p:spPr>
          <a:xfrm>
            <a:off x="508000" y="4673600"/>
            <a:ext cx="457200" cy="457200"/>
          </a:xfrm>
          <a:prstGeom prst="ellipse">
            <a:avLst/>
          </a:prstGeom>
          <a:solidFill>
            <a:srgbClr val="1F88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BR" sz="16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EAB2F9-F585-3741-925C-03F255BC86A2}"/>
              </a:ext>
            </a:extLst>
          </p:cNvPr>
          <p:cNvSpPr txBox="1"/>
          <p:nvPr/>
        </p:nvSpPr>
        <p:spPr>
          <a:xfrm>
            <a:off x="1143000" y="4737100"/>
            <a:ext cx="533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Segoe UI"/>
                <a:cs typeface="Segoe UI"/>
              </a:rPr>
              <a:t>Usar o Chat para gerar schemas e endpoints completos</a:t>
            </a:r>
            <a:endParaRPr lang="en-BR" sz="140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79D5EC6-4323-FF46-8163-9391B81823A6}"/>
              </a:ext>
            </a:extLst>
          </p:cNvPr>
          <p:cNvSpPr/>
          <p:nvPr/>
        </p:nvSpPr>
        <p:spPr>
          <a:xfrm>
            <a:off x="6858000" y="2476500"/>
            <a:ext cx="4826000" cy="2921000"/>
          </a:xfrm>
          <a:prstGeom prst="roundRect">
            <a:avLst/>
          </a:prstGeom>
          <a:solidFill>
            <a:srgbClr val="1A0830"/>
          </a:solidFill>
          <a:ln w="12700" cap="flat" cmpd="sng" algn="ctr">
            <a:solidFill>
              <a:srgbClr val="6B3FB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C98817-835F-ED45-89CC-36B598691737}"/>
              </a:ext>
            </a:extLst>
          </p:cNvPr>
          <p:cNvSpPr txBox="1"/>
          <p:nvPr/>
        </p:nvSpPr>
        <p:spPr>
          <a:xfrm>
            <a:off x="7048500" y="25146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B8A2D9"/>
                </a:solidFill>
                <a:latin typeface="Consolas"/>
                <a:cs typeface="Consolas"/>
              </a:rPr>
              <a:t>terminal</a:t>
            </a:r>
            <a:endParaRPr lang="en-BR" sz="1100" dirty="0">
              <a:solidFill>
                <a:srgbClr val="B8A2D9"/>
              </a:solidFill>
              <a:latin typeface="Consolas"/>
              <a:cs typeface="Consolas"/>
            </a:endParaRPr>
          </a:p>
        </p:txBody>
      </p:sp>
      <p:sp>
        <p:nvSpPr>
          <p:cNvPr id="17" name="TermCmd">
            <a:extLst>
              <a:ext uri="{FF2B5EF4-FFF2-40B4-BE49-F238E27FC236}">
                <a16:creationId xmlns:a16="http://schemas.microsoft.com/office/drawing/2014/main" id="{63316792-CB97-5149-BDF3-E65237AED7E4}"/>
              </a:ext>
            </a:extLst>
          </p:cNvPr>
          <p:cNvSpPr txBox="1"/>
          <p:nvPr/>
        </p:nvSpPr>
        <p:spPr>
          <a:xfrm>
            <a:off x="7086600" y="2984500"/>
            <a:ext cx="4381500" cy="222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900"/>
              </a:lnSpc>
              <a:buNone/>
            </a:pPr>
            <a:r>
              <a:rPr lang="pt-BR" sz="1100" b="1" dirty="0">
                <a:solidFill>
                  <a:srgbClr val="7EE787"/>
                </a:solidFill>
                <a:latin typeface="Consolas"/>
              </a:rPr>
              <a:t>$ </a:t>
            </a:r>
            <a:r>
              <a:rPr lang="pt-BR" sz="1100" dirty="0">
                <a:solidFill>
                  <a:srgbClr val="E6EDF3"/>
                </a:solidFill>
                <a:latin typeface="Consolas"/>
              </a:rPr>
              <a:t>mkdir meetup-events-api</a:t>
            </a:r>
          </a:p>
          <a:p>
            <a:pPr>
              <a:lnSpc>
                <a:spcPts val="1900"/>
              </a:lnSpc>
              <a:buNone/>
            </a:pPr>
            <a:r>
              <a:rPr lang="pt-BR" sz="1100" b="1" dirty="0">
                <a:solidFill>
                  <a:srgbClr val="7EE787"/>
                </a:solidFill>
                <a:latin typeface="Consolas"/>
              </a:rPr>
              <a:t>$ </a:t>
            </a:r>
            <a:r>
              <a:rPr lang="pt-BR" sz="1100" dirty="0">
                <a:solidFill>
                  <a:srgbClr val="E6EDF3"/>
                </a:solidFill>
                <a:latin typeface="Consolas"/>
              </a:rPr>
              <a:t>cd meetup-events-api</a:t>
            </a:r>
          </a:p>
          <a:p>
            <a:pPr>
              <a:lnSpc>
                <a:spcPts val="1900"/>
              </a:lnSpc>
              <a:buNone/>
            </a:pPr>
            <a:r>
              <a:rPr lang="pt-BR" sz="1100" b="1" dirty="0">
                <a:solidFill>
                  <a:srgbClr val="7EE787"/>
                </a:solidFill>
                <a:latin typeface="Consolas"/>
              </a:rPr>
              <a:t>$ </a:t>
            </a:r>
            <a:r>
              <a:rPr lang="pt-BR" sz="1100" dirty="0">
                <a:solidFill>
                  <a:srgbClr val="E6EDF3"/>
                </a:solidFill>
                <a:latin typeface="Consolas"/>
              </a:rPr>
              <a:t>mkdir .github</a:t>
            </a:r>
          </a:p>
          <a:p>
            <a:pPr>
              <a:lnSpc>
                <a:spcPts val="1900"/>
              </a:lnSpc>
              <a:buNone/>
            </a:pPr>
            <a:r>
              <a:rPr lang="pt-BR" sz="1100" b="1" dirty="0">
                <a:solidFill>
                  <a:srgbClr val="7EE787"/>
                </a:solidFill>
                <a:latin typeface="Consolas"/>
              </a:rPr>
              <a:t>$ </a:t>
            </a:r>
            <a:r>
              <a:rPr lang="pt-BR" sz="1100" dirty="0">
                <a:solidFill>
                  <a:srgbClr val="E6EDF3"/>
                </a:solidFill>
                <a:latin typeface="Consolas"/>
              </a:rPr>
              <a:t>touch openapi.yaml</a:t>
            </a:r>
          </a:p>
          <a:p>
            <a:pPr>
              <a:lnSpc>
                <a:spcPts val="1900"/>
              </a:lnSpc>
              <a:buNone/>
            </a:pPr>
            <a:r>
              <a:rPr lang="pt-BR" sz="1100" b="1" dirty="0">
                <a:solidFill>
                  <a:srgbClr val="7EE787"/>
                </a:solidFill>
                <a:latin typeface="Consolas"/>
              </a:rPr>
              <a:t>$ </a:t>
            </a:r>
            <a:r>
              <a:rPr lang="pt-BR" sz="1100" dirty="0">
                <a:solidFill>
                  <a:srgbClr val="E6EDF3"/>
                </a:solidFill>
                <a:latin typeface="Consolas"/>
              </a:rPr>
              <a:t>touch .github/</a:t>
            </a:r>
          </a:p>
          <a:p>
            <a:pPr>
              <a:lnSpc>
                <a:spcPts val="1900"/>
              </a:lnSpc>
              <a:buNone/>
            </a:pPr>
            <a:r>
              <a:rPr lang="pt-BR" sz="1100" dirty="0">
                <a:solidFill>
                  <a:srgbClr val="E6EDF3"/>
                </a:solidFill>
                <a:latin typeface="Consolas"/>
              </a:rPr>
              <a:t>         copilot-instructions.md</a:t>
            </a:r>
          </a:p>
          <a:p>
            <a:pPr>
              <a:lnSpc>
                <a:spcPts val="1900"/>
              </a:lnSpc>
              <a:buNone/>
            </a:pPr>
            <a:r>
              <a:rPr lang="pt-BR" sz="1100" b="1" dirty="0">
                <a:solidFill>
                  <a:srgbClr val="7EE787"/>
                </a:solidFill>
                <a:latin typeface="Consolas"/>
              </a:rPr>
              <a:t>$ </a:t>
            </a:r>
            <a:r>
              <a:rPr lang="pt-BR" sz="1100" dirty="0">
                <a:solidFill>
                  <a:srgbClr val="79C0FF"/>
                </a:solidFill>
                <a:latin typeface="Consolas"/>
              </a:rPr>
              <a:t>code 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B63D31-5873-614E-950B-8A80C947FF5B}"/>
              </a:ext>
            </a:extLst>
          </p:cNvPr>
          <p:cNvSpPr txBox="1"/>
          <p:nvPr/>
        </p:nvSpPr>
        <p:spPr>
          <a:xfrm>
            <a:off x="508000" y="6096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C9B8E0"/>
                </a:solidFill>
                <a:latin typeface="Segoe UI"/>
                <a:cs typeface="Segoe UI"/>
              </a:rPr>
              <a:t>Resultado: openapi.yaml completo, com schemas, paths e exemplos</a:t>
            </a:r>
            <a:endParaRPr lang="en-BR" sz="1400" i="1">
              <a:solidFill>
                <a:srgbClr val="C9B8E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30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E6DC1A-62FB-D849-8444-FC4A38C2CE34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  ·  DEMO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F784F9-A432-E14C-8A53-FCF8AEF68764}"/>
              </a:ext>
            </a:extLst>
          </p:cNvPr>
          <p:cNvSpPr/>
          <p:nvPr/>
        </p:nvSpPr>
        <p:spPr>
          <a:xfrm>
            <a:off x="508000" y="889000"/>
            <a:ext cx="1778000" cy="381000"/>
          </a:xfrm>
          <a:prstGeom prst="roundRect">
            <a:avLst/>
          </a:prstGeom>
          <a:solidFill>
            <a:srgbClr val="FFD1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Segoe UI"/>
                <a:cs typeface="Segoe UI"/>
              </a:rPr>
              <a:t>FASE 2  ·  12 min</a:t>
            </a:r>
            <a:endParaRPr lang="en-BR" sz="12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64EEAB-BC72-EF41-BFF4-2CCC936EFA10}"/>
              </a:ext>
            </a:extLst>
          </p:cNvPr>
          <p:cNvSpPr txBox="1"/>
          <p:nvPr/>
        </p:nvSpPr>
        <p:spPr>
          <a:xfrm>
            <a:off x="508000" y="1397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Segoe UI"/>
                <a:cs typeface="Segoe UI"/>
              </a:rPr>
              <a:t>Gerando o Código C#</a:t>
            </a:r>
            <a:endParaRPr lang="en-BR" sz="3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2C340E-2D94-D84E-87B3-AF03156712E6}"/>
              </a:ext>
            </a:extLst>
          </p:cNvPr>
          <p:cNvSpPr/>
          <p:nvPr/>
        </p:nvSpPr>
        <p:spPr>
          <a:xfrm>
            <a:off x="508000" y="2095500"/>
            <a:ext cx="762000" cy="38100"/>
          </a:xfrm>
          <a:prstGeom prst="rect">
            <a:avLst/>
          </a:prstGeom>
          <a:solidFill>
            <a:srgbClr val="FFD1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8C6AB04-B571-E449-964E-2C27B069BD78}"/>
              </a:ext>
            </a:extLst>
          </p:cNvPr>
          <p:cNvSpPr/>
          <p:nvPr/>
        </p:nvSpPr>
        <p:spPr>
          <a:xfrm>
            <a:off x="508000" y="2540000"/>
            <a:ext cx="508000" cy="508000"/>
          </a:xfrm>
          <a:prstGeom prst="ellipse">
            <a:avLst/>
          </a:prstGeom>
          <a:solidFill>
            <a:srgbClr val="FFD1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BR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378B44-354E-6F4B-8146-F056CA5BB1B4}"/>
              </a:ext>
            </a:extLst>
          </p:cNvPr>
          <p:cNvSpPr txBox="1"/>
          <p:nvPr/>
        </p:nvSpPr>
        <p:spPr>
          <a:xfrm>
            <a:off x="1206500" y="25654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Criar o projeto .NET</a:t>
            </a:r>
            <a:endParaRPr lang="en-BR" sz="1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2E65ED-1C68-AF4B-B1FF-2A0464486CDB}"/>
              </a:ext>
            </a:extLst>
          </p:cNvPr>
          <p:cNvSpPr txBox="1"/>
          <p:nvPr/>
        </p:nvSpPr>
        <p:spPr>
          <a:xfrm>
            <a:off x="1206500" y="28956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Consolas"/>
                <a:cs typeface="Consolas"/>
              </a:rPr>
              <a:t>dotnet new webapi -n EventsApi --no-openapi</a:t>
            </a:r>
            <a:endParaRPr lang="en-BR" sz="1400">
              <a:solidFill>
                <a:srgbClr val="FFFFFF"/>
              </a:solidFill>
              <a:latin typeface="Consolas"/>
              <a:cs typeface="Consola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48EB6E-7874-E94B-BF0B-17CAD5CD3E8F}"/>
              </a:ext>
            </a:extLst>
          </p:cNvPr>
          <p:cNvSpPr/>
          <p:nvPr/>
        </p:nvSpPr>
        <p:spPr>
          <a:xfrm>
            <a:off x="508000" y="3429000"/>
            <a:ext cx="508000" cy="508000"/>
          </a:xfrm>
          <a:prstGeom prst="ellipse">
            <a:avLst/>
          </a:prstGeom>
          <a:solidFill>
            <a:srgbClr val="FFD1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BR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5E9021-5D10-0440-BEAE-27349BC3B6DF}"/>
              </a:ext>
            </a:extLst>
          </p:cNvPr>
          <p:cNvSpPr txBox="1"/>
          <p:nvPr/>
        </p:nvSpPr>
        <p:spPr>
          <a:xfrm>
            <a:off x="1206500" y="34544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Abrir openapi.yaml ao lado do código</a:t>
            </a:r>
            <a:endParaRPr lang="en-BR" sz="1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78ACF7-8EE2-0F41-8C61-B1B73BFA06F6}"/>
              </a:ext>
            </a:extLst>
          </p:cNvPr>
          <p:cNvSpPr txBox="1"/>
          <p:nvPr/>
        </p:nvSpPr>
        <p:spPr>
          <a:xfrm>
            <a:off x="1206500" y="37846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FFD166"/>
                </a:solidFill>
                <a:latin typeface="Segoe UI"/>
                <a:cs typeface="Segoe UI"/>
              </a:rPr>
              <a:t>← o segredo</a:t>
            </a:r>
            <a:endParaRPr lang="en-BR" sz="1400" b="1" i="1">
              <a:solidFill>
                <a:srgbClr val="FFD166"/>
              </a:solidFill>
              <a:latin typeface="Segoe UI"/>
              <a:cs typeface="Segoe UI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F2C5661-5674-FB4E-9DD6-CCEDDA05EFA9}"/>
              </a:ext>
            </a:extLst>
          </p:cNvPr>
          <p:cNvSpPr/>
          <p:nvPr/>
        </p:nvSpPr>
        <p:spPr>
          <a:xfrm>
            <a:off x="508000" y="4318000"/>
            <a:ext cx="508000" cy="508000"/>
          </a:xfrm>
          <a:prstGeom prst="ellipse">
            <a:avLst/>
          </a:prstGeom>
          <a:solidFill>
            <a:srgbClr val="FFD1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BR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303076-E864-FB4A-A805-C7E5FC4DA496}"/>
              </a:ext>
            </a:extLst>
          </p:cNvPr>
          <p:cNvSpPr txBox="1"/>
          <p:nvPr/>
        </p:nvSpPr>
        <p:spPr>
          <a:xfrm>
            <a:off x="1206500" y="43434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Pedir ao Copilot Chat para gerar</a:t>
            </a:r>
            <a:endParaRPr lang="en-BR" sz="1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4956BE-41B0-7F44-82BB-874970646220}"/>
              </a:ext>
            </a:extLst>
          </p:cNvPr>
          <p:cNvSpPr txBox="1"/>
          <p:nvPr/>
        </p:nvSpPr>
        <p:spPr>
          <a:xfrm>
            <a:off x="1206500" y="46736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B8E0"/>
                </a:solidFill>
                <a:latin typeface="Segoe UI"/>
                <a:cs typeface="Segoe UI"/>
              </a:rPr>
              <a:t>Models, Controllers, registrar no Program.cs</a:t>
            </a:r>
            <a:endParaRPr lang="en-BR" sz="1400">
              <a:solidFill>
                <a:srgbClr val="C9B8E0"/>
              </a:solidFill>
              <a:latin typeface="Segoe UI"/>
              <a:cs typeface="Segoe UI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081A71F-48F6-A846-877B-6EFB1DA14DDB}"/>
              </a:ext>
            </a:extLst>
          </p:cNvPr>
          <p:cNvSpPr/>
          <p:nvPr/>
        </p:nvSpPr>
        <p:spPr>
          <a:xfrm>
            <a:off x="508000" y="5207000"/>
            <a:ext cx="508000" cy="508000"/>
          </a:xfrm>
          <a:prstGeom prst="ellipse">
            <a:avLst/>
          </a:prstGeom>
          <a:solidFill>
            <a:srgbClr val="FFD1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BR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052878-EA69-6E44-9F92-4ACD773DC0EA}"/>
              </a:ext>
            </a:extLst>
          </p:cNvPr>
          <p:cNvSpPr txBox="1"/>
          <p:nvPr/>
        </p:nvSpPr>
        <p:spPr>
          <a:xfrm>
            <a:off x="1206500" y="52324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Mostrar o resultado compilando</a:t>
            </a:r>
            <a:endParaRPr lang="en-BR" sz="1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2557E2-B779-1D49-B1BE-0DAB837D04A8}"/>
              </a:ext>
            </a:extLst>
          </p:cNvPr>
          <p:cNvSpPr txBox="1"/>
          <p:nvPr/>
        </p:nvSpPr>
        <p:spPr>
          <a:xfrm>
            <a:off x="1206500" y="55626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BR" sz="1400">
                <a:solidFill>
                  <a:srgbClr val="C9B8E0"/>
                </a:solidFill>
                <a:latin typeface="Segoe UI"/>
                <a:cs typeface="Segoe UI"/>
              </a:rPr>
              <a:t>🚀</a:t>
            </a:r>
          </a:p>
        </p:txBody>
      </p:sp>
    </p:spTree>
    <p:extLst>
      <p:ext uri="{BB962C8B-B14F-4D97-AF65-F5344CB8AC3E}">
        <p14:creationId xmlns:p14="http://schemas.microsoft.com/office/powerpoint/2010/main" val="1740606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D3077A-9308-114E-972A-CCB713256AA9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D1BB8-5CAA-3D4C-8ABE-2D5F6ED58D50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Segoe UI"/>
                <a:cs typeface="Segoe UI"/>
              </a:rPr>
              <a:t>Como Começar Hoje</a:t>
            </a:r>
            <a:endParaRPr lang="en-BR" sz="3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4D1B0C-8921-1B4D-A69B-E93B082D27D9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44D7D3A-0222-CD4A-B95A-BEC984D2DF74}"/>
              </a:ext>
            </a:extLst>
          </p:cNvPr>
          <p:cNvSpPr/>
          <p:nvPr/>
        </p:nvSpPr>
        <p:spPr>
          <a:xfrm>
            <a:off x="508000" y="2159000"/>
            <a:ext cx="11176000" cy="1270000"/>
          </a:xfrm>
          <a:prstGeom prst="roundRect">
            <a:avLst/>
          </a:prstGeom>
          <a:solidFill>
            <a:srgbClr val="5B2C9E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BBAE62-FF75-FF4C-A849-2DD72FAF74BB}"/>
              </a:ext>
            </a:extLst>
          </p:cNvPr>
          <p:cNvSpPr/>
          <p:nvPr/>
        </p:nvSpPr>
        <p:spPr>
          <a:xfrm>
            <a:off x="476100" y="2159000"/>
            <a:ext cx="243367" cy="1270000"/>
          </a:xfrm>
          <a:prstGeom prst="rect">
            <a:avLst/>
          </a:prstGeom>
          <a:solidFill>
            <a:srgbClr val="1F88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B4A74D-B488-2C4A-A8E1-568E12BBBB80}"/>
              </a:ext>
            </a:extLst>
          </p:cNvPr>
          <p:cNvSpPr/>
          <p:nvPr/>
        </p:nvSpPr>
        <p:spPr>
          <a:xfrm>
            <a:off x="889000" y="2476500"/>
            <a:ext cx="635000" cy="635000"/>
          </a:xfrm>
          <a:prstGeom prst="ellipse">
            <a:avLst/>
          </a:prstGeom>
          <a:solidFill>
            <a:srgbClr val="1F88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BR" sz="24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54FC95-6B99-8A4D-A3E0-54172FE69B69}"/>
              </a:ext>
            </a:extLst>
          </p:cNvPr>
          <p:cNvSpPr txBox="1"/>
          <p:nvPr/>
        </p:nvSpPr>
        <p:spPr>
          <a:xfrm>
            <a:off x="1778000" y="24384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Segoe UI"/>
                <a:cs typeface="Segoe UI"/>
              </a:rPr>
              <a:t>Escolha o tier</a:t>
            </a:r>
            <a:endParaRPr lang="en-BR" sz="20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49BA6-4BE2-EF44-BA7C-8B60E07F9473}"/>
              </a:ext>
            </a:extLst>
          </p:cNvPr>
          <p:cNvSpPr txBox="1"/>
          <p:nvPr/>
        </p:nvSpPr>
        <p:spPr>
          <a:xfrm>
            <a:off x="1778000" y="28575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E6DDF5"/>
                </a:solidFill>
                <a:latin typeface="Segoe UI"/>
                <a:cs typeface="Segoe UI"/>
              </a:rPr>
              <a:t>Free (R$ 0) para aprender · Pro (~R$ 55/mês) para uso frequente</a:t>
            </a:r>
            <a:endParaRPr lang="en-BR" sz="1500">
              <a:solidFill>
                <a:srgbClr val="E6DDF5"/>
              </a:solidFill>
              <a:latin typeface="Segoe UI"/>
              <a:cs typeface="Segoe UI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09C3EBC-EC53-F74D-9300-CB0601E7223C}"/>
              </a:ext>
            </a:extLst>
          </p:cNvPr>
          <p:cNvSpPr/>
          <p:nvPr/>
        </p:nvSpPr>
        <p:spPr>
          <a:xfrm>
            <a:off x="508000" y="3619500"/>
            <a:ext cx="11176000" cy="1270000"/>
          </a:xfrm>
          <a:prstGeom prst="roundRect">
            <a:avLst/>
          </a:prstGeom>
          <a:solidFill>
            <a:srgbClr val="5B2C9E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46D575-8D49-2547-8F86-A935BFDA85DD}"/>
              </a:ext>
            </a:extLst>
          </p:cNvPr>
          <p:cNvSpPr/>
          <p:nvPr/>
        </p:nvSpPr>
        <p:spPr>
          <a:xfrm>
            <a:off x="476099" y="3619500"/>
            <a:ext cx="243367" cy="1270000"/>
          </a:xfrm>
          <a:prstGeom prst="rect">
            <a:avLst/>
          </a:prstGeom>
          <a:solidFill>
            <a:srgbClr val="B794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BCE158-9CF4-F74C-87BC-BD1A0566A449}"/>
              </a:ext>
            </a:extLst>
          </p:cNvPr>
          <p:cNvSpPr/>
          <p:nvPr/>
        </p:nvSpPr>
        <p:spPr>
          <a:xfrm>
            <a:off x="889000" y="3937000"/>
            <a:ext cx="635000" cy="635000"/>
          </a:xfrm>
          <a:prstGeom prst="ellipse">
            <a:avLst/>
          </a:prstGeom>
          <a:solidFill>
            <a:srgbClr val="8458C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BR" sz="24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442C99-885E-8543-B10C-33D3C63CEEDA}"/>
              </a:ext>
            </a:extLst>
          </p:cNvPr>
          <p:cNvSpPr txBox="1"/>
          <p:nvPr/>
        </p:nvSpPr>
        <p:spPr>
          <a:xfrm>
            <a:off x="1778000" y="38989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Segoe UI"/>
                <a:cs typeface="Segoe UI"/>
              </a:rPr>
              <a:t>Ferramentas para a spec</a:t>
            </a:r>
            <a:endParaRPr lang="en-BR" sz="20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56DBF-2085-BF40-B3C7-225567D8B2A2}"/>
              </a:ext>
            </a:extLst>
          </p:cNvPr>
          <p:cNvSpPr txBox="1"/>
          <p:nvPr/>
        </p:nvSpPr>
        <p:spPr>
          <a:xfrm>
            <a:off x="1778000" y="43180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dirty="0" err="1">
                <a:solidFill>
                  <a:srgbClr val="E6DDF5"/>
                </a:solidFill>
                <a:latin typeface="Segoe UI"/>
                <a:cs typeface="Segoe UI"/>
              </a:rPr>
              <a:t>editor.swagger.io</a:t>
            </a:r>
            <a:r>
              <a:rPr lang="en-US" sz="1500" dirty="0">
                <a:solidFill>
                  <a:srgbClr val="E6DDF5"/>
                </a:solidFill>
                <a:latin typeface="Segoe UI"/>
                <a:cs typeface="Segoe UI"/>
              </a:rPr>
              <a:t>  ·  VS Code + </a:t>
            </a:r>
            <a:r>
              <a:rPr lang="en-US" sz="1500" dirty="0" err="1">
                <a:solidFill>
                  <a:srgbClr val="E6DDF5"/>
                </a:solidFill>
                <a:latin typeface="Segoe UI"/>
                <a:cs typeface="Segoe UI"/>
              </a:rPr>
              <a:t>extensão</a:t>
            </a:r>
            <a:r>
              <a:rPr lang="en-US" sz="1500" dirty="0">
                <a:solidFill>
                  <a:srgbClr val="E6DDF5"/>
                </a:solidFill>
                <a:latin typeface="Segoe UI"/>
                <a:cs typeface="Segoe UI"/>
              </a:rPr>
              <a:t> </a:t>
            </a:r>
            <a:r>
              <a:rPr lang="en-US" sz="1500" dirty="0" err="1">
                <a:solidFill>
                  <a:srgbClr val="E6DDF5"/>
                </a:solidFill>
                <a:latin typeface="Segoe UI"/>
                <a:cs typeface="Segoe UI"/>
              </a:rPr>
              <a:t>OpenAPI</a:t>
            </a:r>
            <a:endParaRPr lang="en-BR" sz="1500" dirty="0">
              <a:solidFill>
                <a:srgbClr val="E6DDF5"/>
              </a:solidFill>
              <a:latin typeface="Segoe UI"/>
              <a:cs typeface="Segoe UI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F3EC97F-13D0-5A4E-AF3A-DF932E8E444F}"/>
              </a:ext>
            </a:extLst>
          </p:cNvPr>
          <p:cNvSpPr/>
          <p:nvPr/>
        </p:nvSpPr>
        <p:spPr>
          <a:xfrm>
            <a:off x="508000" y="5080000"/>
            <a:ext cx="11176000" cy="1270000"/>
          </a:xfrm>
          <a:prstGeom prst="roundRect">
            <a:avLst/>
          </a:prstGeom>
          <a:solidFill>
            <a:srgbClr val="5B2C9E"/>
          </a:solidFill>
          <a:ln w="9525" cap="flat" cmpd="sng" algn="ctr">
            <a:solidFill>
              <a:srgbClr val="8458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29EE0A-13BC-A64B-BB2F-992D1C35BE44}"/>
              </a:ext>
            </a:extLst>
          </p:cNvPr>
          <p:cNvSpPr/>
          <p:nvPr/>
        </p:nvSpPr>
        <p:spPr>
          <a:xfrm>
            <a:off x="476099" y="5080000"/>
            <a:ext cx="243367" cy="1270000"/>
          </a:xfrm>
          <a:prstGeom prst="rect">
            <a:avLst/>
          </a:prstGeom>
          <a:solidFill>
            <a:srgbClr val="FFD1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988F4D-751E-D248-A12B-B87808678632}"/>
              </a:ext>
            </a:extLst>
          </p:cNvPr>
          <p:cNvSpPr/>
          <p:nvPr/>
        </p:nvSpPr>
        <p:spPr>
          <a:xfrm>
            <a:off x="889000" y="5397500"/>
            <a:ext cx="635000" cy="635000"/>
          </a:xfrm>
          <a:prstGeom prst="ellipse">
            <a:avLst/>
          </a:prstGeom>
          <a:solidFill>
            <a:srgbClr val="FFD1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BR" sz="24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007A10-3145-4946-B645-FE9B3310C260}"/>
              </a:ext>
            </a:extLst>
          </p:cNvPr>
          <p:cNvSpPr txBox="1"/>
          <p:nvPr/>
        </p:nvSpPr>
        <p:spPr>
          <a:xfrm>
            <a:off x="1778000" y="53594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Segoe UI"/>
                <a:cs typeface="Segoe UI"/>
              </a:rPr>
              <a:t>Aplique as 3 regras de ouro</a:t>
            </a:r>
            <a:endParaRPr lang="en-BR" sz="20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F994B1-8508-1E4C-8C21-A2DBCF600926}"/>
              </a:ext>
            </a:extLst>
          </p:cNvPr>
          <p:cNvSpPr txBox="1"/>
          <p:nvPr/>
        </p:nvSpPr>
        <p:spPr>
          <a:xfrm>
            <a:off x="1778000" y="57785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E6DDF5"/>
                </a:solidFill>
                <a:latin typeface="Segoe UI"/>
                <a:cs typeface="Segoe UI"/>
              </a:rPr>
              <a:t>Spec no repo  ·  Exemplos em tudo  ·  Spec como código</a:t>
            </a:r>
            <a:endParaRPr lang="en-BR" sz="1500">
              <a:solidFill>
                <a:srgbClr val="E6DDF5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234658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29396F-C890-7340-8155-0B681C567D78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80B4C5-AF1B-D344-912F-B65DACB4536B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Segoe UI"/>
                <a:cs typeface="Segoe UI"/>
              </a:rPr>
              <a:t>As 3 Regras de Ouro</a:t>
            </a:r>
            <a:endParaRPr lang="en-BR" sz="36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8D762B-56FB-2743-BF19-B0F0519BA563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D1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4DA8BF7-B3C6-A649-8A13-24BC0D454765}"/>
              </a:ext>
            </a:extLst>
          </p:cNvPr>
          <p:cNvSpPr/>
          <p:nvPr/>
        </p:nvSpPr>
        <p:spPr>
          <a:xfrm>
            <a:off x="444500" y="2095500"/>
            <a:ext cx="3556000" cy="406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420628-B1BC-8745-A79E-9880B2885536}"/>
              </a:ext>
            </a:extLst>
          </p:cNvPr>
          <p:cNvSpPr/>
          <p:nvPr/>
        </p:nvSpPr>
        <p:spPr>
          <a:xfrm>
            <a:off x="1651000" y="2540000"/>
            <a:ext cx="1143000" cy="1143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C31EE5-054C-1449-87AD-3DE1A560C7F0}"/>
              </a:ext>
            </a:extLst>
          </p:cNvPr>
          <p:cNvSpPr txBox="1"/>
          <p:nvPr/>
        </p:nvSpPr>
        <p:spPr>
          <a:xfrm>
            <a:off x="1651000" y="2730500"/>
            <a:ext cx="1143000" cy="762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BR" sz="4400">
                <a:solidFill>
                  <a:srgbClr val="2E1058"/>
                </a:solidFill>
              </a:rPr>
              <a:t>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373629-7C8B-6C49-AB00-499C8654FAC2}"/>
              </a:ext>
            </a:extLst>
          </p:cNvPr>
          <p:cNvSpPr txBox="1"/>
          <p:nvPr/>
        </p:nvSpPr>
        <p:spPr>
          <a:xfrm>
            <a:off x="635000" y="4000500"/>
            <a:ext cx="3175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>
                <a:solidFill>
                  <a:srgbClr val="2E1058"/>
                </a:solidFill>
                <a:latin typeface="Segoe UI"/>
                <a:cs typeface="Segoe UI"/>
              </a:rPr>
              <a:t>Spec no repositório</a:t>
            </a:r>
            <a:endParaRPr lang="en-BR" sz="20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2356F6-5BFD-4C40-A5B3-A50731248DDA}"/>
              </a:ext>
            </a:extLst>
          </p:cNvPr>
          <p:cNvSpPr/>
          <p:nvPr/>
        </p:nvSpPr>
        <p:spPr>
          <a:xfrm>
            <a:off x="1905000" y="4635500"/>
            <a:ext cx="635000" cy="25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9D2864-4B56-BF44-9DA2-6B2CA58E6518}"/>
              </a:ext>
            </a:extLst>
          </p:cNvPr>
          <p:cNvSpPr txBox="1"/>
          <p:nvPr/>
        </p:nvSpPr>
        <p:spPr>
          <a:xfrm>
            <a:off x="698500" y="4889500"/>
            <a:ext cx="3048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B2C9E"/>
                </a:solidFill>
                <a:latin typeface="Segoe UI"/>
                <a:cs typeface="Segoe UI"/>
              </a:rPr>
              <a:t>Mesmo repo, mesmo PR, mesmo code review que o código</a:t>
            </a:r>
            <a:endParaRPr lang="en-BR" sz="1400">
              <a:solidFill>
                <a:srgbClr val="5B2C9E"/>
              </a:solidFill>
              <a:latin typeface="Segoe UI"/>
              <a:cs typeface="Segoe UI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ADD37DF-AF83-704E-9E0A-6BEB3F20547D}"/>
              </a:ext>
            </a:extLst>
          </p:cNvPr>
          <p:cNvSpPr/>
          <p:nvPr/>
        </p:nvSpPr>
        <p:spPr>
          <a:xfrm>
            <a:off x="4318000" y="2095500"/>
            <a:ext cx="3556000" cy="406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1F88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8B7542-F5B0-BC48-B64E-88E359786311}"/>
              </a:ext>
            </a:extLst>
          </p:cNvPr>
          <p:cNvSpPr/>
          <p:nvPr/>
        </p:nvSpPr>
        <p:spPr>
          <a:xfrm>
            <a:off x="5524500" y="2540000"/>
            <a:ext cx="1143000" cy="1143000"/>
          </a:xfrm>
          <a:prstGeom prst="ellipse">
            <a:avLst/>
          </a:prstGeom>
          <a:solidFill>
            <a:srgbClr val="1F88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1145B-BBF9-7644-BFB6-ECD1EC3407E1}"/>
              </a:ext>
            </a:extLst>
          </p:cNvPr>
          <p:cNvSpPr txBox="1"/>
          <p:nvPr/>
        </p:nvSpPr>
        <p:spPr>
          <a:xfrm>
            <a:off x="5524500" y="2730500"/>
            <a:ext cx="1143000" cy="762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BR" sz="4400">
                <a:solidFill>
                  <a:srgbClr val="2E1058"/>
                </a:solidFill>
              </a:rPr>
              <a:t>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F0B8E5-662E-6744-BB6E-F2E0116810DF}"/>
              </a:ext>
            </a:extLst>
          </p:cNvPr>
          <p:cNvSpPr txBox="1"/>
          <p:nvPr/>
        </p:nvSpPr>
        <p:spPr>
          <a:xfrm>
            <a:off x="4508500" y="4000500"/>
            <a:ext cx="3175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>
                <a:solidFill>
                  <a:srgbClr val="2E1058"/>
                </a:solidFill>
                <a:latin typeface="Segoe UI"/>
                <a:cs typeface="Segoe UI"/>
              </a:rPr>
              <a:t>Exemplos em tudo</a:t>
            </a:r>
            <a:endParaRPr lang="en-BR" sz="20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61C13D-04CD-BF41-889F-2DD869FD8B76}"/>
              </a:ext>
            </a:extLst>
          </p:cNvPr>
          <p:cNvSpPr/>
          <p:nvPr/>
        </p:nvSpPr>
        <p:spPr>
          <a:xfrm>
            <a:off x="5778500" y="4635500"/>
            <a:ext cx="635000" cy="25400"/>
          </a:xfrm>
          <a:prstGeom prst="rect">
            <a:avLst/>
          </a:prstGeom>
          <a:solidFill>
            <a:srgbClr val="1F88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8C203B-5A4D-D04B-AF47-D6D9D548A528}"/>
              </a:ext>
            </a:extLst>
          </p:cNvPr>
          <p:cNvSpPr txBox="1"/>
          <p:nvPr/>
        </p:nvSpPr>
        <p:spPr>
          <a:xfrm>
            <a:off x="4572000" y="4889500"/>
            <a:ext cx="3048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B2C9E"/>
                </a:solidFill>
                <a:latin typeface="Segoe UI"/>
                <a:cs typeface="Segoe UI"/>
              </a:rPr>
              <a:t>Schemas sem exemplos são inúteis para AI e para mocks</a:t>
            </a:r>
            <a:endParaRPr lang="en-BR" sz="1400">
              <a:solidFill>
                <a:srgbClr val="5B2C9E"/>
              </a:solidFill>
              <a:latin typeface="Segoe UI"/>
              <a:cs typeface="Segoe UI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62C88FD-3BBD-EC43-ADB7-CEE37E498E15}"/>
              </a:ext>
            </a:extLst>
          </p:cNvPr>
          <p:cNvSpPr/>
          <p:nvPr/>
        </p:nvSpPr>
        <p:spPr>
          <a:xfrm>
            <a:off x="8191500" y="2095500"/>
            <a:ext cx="3556000" cy="406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FFD1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7D2CC07-80EC-9743-A755-D81FDAB0D5EA}"/>
              </a:ext>
            </a:extLst>
          </p:cNvPr>
          <p:cNvSpPr/>
          <p:nvPr/>
        </p:nvSpPr>
        <p:spPr>
          <a:xfrm>
            <a:off x="9398000" y="2540000"/>
            <a:ext cx="1143000" cy="1143000"/>
          </a:xfrm>
          <a:prstGeom prst="ellipse">
            <a:avLst/>
          </a:prstGeom>
          <a:solidFill>
            <a:srgbClr val="FFD1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9A6C6A-DC81-5247-AACD-E7BF9A2599FE}"/>
              </a:ext>
            </a:extLst>
          </p:cNvPr>
          <p:cNvSpPr txBox="1"/>
          <p:nvPr/>
        </p:nvSpPr>
        <p:spPr>
          <a:xfrm>
            <a:off x="9398000" y="2730500"/>
            <a:ext cx="1143000" cy="762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BR" sz="4400">
                <a:solidFill>
                  <a:srgbClr val="2E1058"/>
                </a:solidFill>
              </a:rPr>
              <a:t>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C700AA-85BB-3548-9D95-D4F9CC214F53}"/>
              </a:ext>
            </a:extLst>
          </p:cNvPr>
          <p:cNvSpPr txBox="1"/>
          <p:nvPr/>
        </p:nvSpPr>
        <p:spPr>
          <a:xfrm>
            <a:off x="8382000" y="4000500"/>
            <a:ext cx="3175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>
                <a:solidFill>
                  <a:srgbClr val="2E1058"/>
                </a:solidFill>
                <a:latin typeface="Segoe UI"/>
                <a:cs typeface="Segoe UI"/>
              </a:rPr>
              <a:t>Spec como código</a:t>
            </a:r>
            <a:endParaRPr lang="en-BR" sz="20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EE0B6A-E5ED-444E-8EFA-2519D67475D2}"/>
              </a:ext>
            </a:extLst>
          </p:cNvPr>
          <p:cNvSpPr/>
          <p:nvPr/>
        </p:nvSpPr>
        <p:spPr>
          <a:xfrm>
            <a:off x="9652000" y="4635500"/>
            <a:ext cx="635000" cy="25400"/>
          </a:xfrm>
          <a:prstGeom prst="rect">
            <a:avLst/>
          </a:prstGeom>
          <a:solidFill>
            <a:srgbClr val="FFD1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FD32F8-D587-2447-B8B5-805E695B01A3}"/>
              </a:ext>
            </a:extLst>
          </p:cNvPr>
          <p:cNvSpPr txBox="1"/>
          <p:nvPr/>
        </p:nvSpPr>
        <p:spPr>
          <a:xfrm>
            <a:off x="8445500" y="4889500"/>
            <a:ext cx="3048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B2C9E"/>
                </a:solidFill>
                <a:latin typeface="Segoe UI"/>
                <a:cs typeface="Segoe UI"/>
              </a:rPr>
              <a:t>Mudança na API = mudança na spec = review do time</a:t>
            </a:r>
            <a:endParaRPr lang="en-BR" sz="1400">
              <a:solidFill>
                <a:srgbClr val="5B2C9E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554251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494CDD-7F6E-C942-B874-EEE3CC45C38A}"/>
              </a:ext>
            </a:extLst>
          </p:cNvPr>
          <p:cNvSpPr txBox="1"/>
          <p:nvPr/>
        </p:nvSpPr>
        <p:spPr>
          <a:xfrm>
            <a:off x="508000" y="38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B8A2D9"/>
                </a:solidFill>
                <a:latin typeface="Segoe UI"/>
                <a:cs typeface="Segoe UI"/>
              </a:rPr>
              <a:t>Spec Driven Design  ·  Meetup ITU Developers</a:t>
            </a:r>
            <a:endParaRPr lang="en-BR" sz="11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CC2106-CB77-4D43-A9CA-5422F30A1B4C}"/>
              </a:ext>
            </a:extLst>
          </p:cNvPr>
          <p:cNvSpPr txBox="1"/>
          <p:nvPr/>
        </p:nvSpPr>
        <p:spPr>
          <a:xfrm>
            <a:off x="508000" y="8890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  <a:latin typeface="Segoe UI"/>
                <a:cs typeface="Segoe UI"/>
              </a:rPr>
              <a:t>Resumo</a:t>
            </a:r>
            <a:endParaRPr lang="en-BR" sz="40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EF746E-1B22-074F-8FEC-937975D2DCE6}"/>
              </a:ext>
            </a:extLst>
          </p:cNvPr>
          <p:cNvSpPr/>
          <p:nvPr/>
        </p:nvSpPr>
        <p:spPr>
          <a:xfrm>
            <a:off x="508000" y="1651000"/>
            <a:ext cx="762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3B8666-465E-FB4F-A055-C072D38E4953}"/>
              </a:ext>
            </a:extLst>
          </p:cNvPr>
          <p:cNvSpPr/>
          <p:nvPr/>
        </p:nvSpPr>
        <p:spPr>
          <a:xfrm>
            <a:off x="1016000" y="2387600"/>
            <a:ext cx="406400" cy="406400"/>
          </a:xfrm>
          <a:prstGeom prst="ellipse">
            <a:avLst/>
          </a:prstGeom>
          <a:solidFill>
            <a:srgbClr val="1F88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BR" b="1">
                <a:solidFill>
                  <a:srgbClr val="FFFFFF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F3E305-147E-0C48-9019-759140DD2DD7}"/>
              </a:ext>
            </a:extLst>
          </p:cNvPr>
          <p:cNvSpPr txBox="1"/>
          <p:nvPr/>
        </p:nvSpPr>
        <p:spPr>
          <a:xfrm>
            <a:off x="1651000" y="2286000"/>
            <a:ext cx="952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Segoe UI"/>
                <a:cs typeface="Segoe UI"/>
              </a:rPr>
              <a:t>SDD = TDD para APIs</a:t>
            </a:r>
            <a:endParaRPr lang="en-BR" sz="20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990E52-43D3-794D-B507-5C15DD81DA45}"/>
              </a:ext>
            </a:extLst>
          </p:cNvPr>
          <p:cNvSpPr txBox="1"/>
          <p:nvPr/>
        </p:nvSpPr>
        <p:spPr>
          <a:xfrm>
            <a:off x="1651000" y="2692400"/>
            <a:ext cx="952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B8E0"/>
                </a:solidFill>
                <a:latin typeface="Segoe UI"/>
                <a:cs typeface="Segoe UI"/>
              </a:rPr>
              <a:t>Defina o contrato antes do código</a:t>
            </a:r>
            <a:endParaRPr lang="en-BR" sz="1400">
              <a:solidFill>
                <a:srgbClr val="C9B8E0"/>
              </a:solidFill>
              <a:latin typeface="Segoe UI"/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AC8D6E-035B-484D-BB0D-0F0090BF9D42}"/>
              </a:ext>
            </a:extLst>
          </p:cNvPr>
          <p:cNvSpPr/>
          <p:nvPr/>
        </p:nvSpPr>
        <p:spPr>
          <a:xfrm>
            <a:off x="1016000" y="3378200"/>
            <a:ext cx="406400" cy="406400"/>
          </a:xfrm>
          <a:prstGeom prst="ellipse">
            <a:avLst/>
          </a:prstGeom>
          <a:solidFill>
            <a:srgbClr val="1F88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BR" b="1">
                <a:solidFill>
                  <a:srgbClr val="FFFFFF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9A7B23-0E88-0B42-BE6D-F12501DA2178}"/>
              </a:ext>
            </a:extLst>
          </p:cNvPr>
          <p:cNvSpPr txBox="1"/>
          <p:nvPr/>
        </p:nvSpPr>
        <p:spPr>
          <a:xfrm>
            <a:off x="1651000" y="3276600"/>
            <a:ext cx="952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Segoe UI"/>
                <a:cs typeface="Segoe UI"/>
              </a:rPr>
              <a:t>OpenAPI no repositório</a:t>
            </a:r>
            <a:endParaRPr lang="en-BR" sz="20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CC831-4E5D-824D-8373-43FD033D1C55}"/>
              </a:ext>
            </a:extLst>
          </p:cNvPr>
          <p:cNvSpPr txBox="1"/>
          <p:nvPr/>
        </p:nvSpPr>
        <p:spPr>
          <a:xfrm>
            <a:off x="1651000" y="3683000"/>
            <a:ext cx="952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B8E0"/>
                </a:solidFill>
                <a:latin typeface="Segoe UI"/>
                <a:cs typeface="Segoe UI"/>
              </a:rPr>
              <a:t>Contexto gratuito e perfeito para o Copilot</a:t>
            </a:r>
            <a:endParaRPr lang="en-BR" sz="1400">
              <a:solidFill>
                <a:srgbClr val="C9B8E0"/>
              </a:solidFill>
              <a:latin typeface="Segoe UI"/>
              <a:cs typeface="Segoe U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8218E0B-3DCE-1D49-A197-96EB8BE9D93A}"/>
              </a:ext>
            </a:extLst>
          </p:cNvPr>
          <p:cNvSpPr/>
          <p:nvPr/>
        </p:nvSpPr>
        <p:spPr>
          <a:xfrm>
            <a:off x="1016000" y="4368800"/>
            <a:ext cx="406400" cy="406400"/>
          </a:xfrm>
          <a:prstGeom prst="ellipse">
            <a:avLst/>
          </a:prstGeom>
          <a:solidFill>
            <a:srgbClr val="1F88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BR" b="1">
                <a:solidFill>
                  <a:srgbClr val="FFFFFF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B347D6-7144-7243-B8EB-BFAB200008DA}"/>
              </a:ext>
            </a:extLst>
          </p:cNvPr>
          <p:cNvSpPr txBox="1"/>
          <p:nvPr/>
        </p:nvSpPr>
        <p:spPr>
          <a:xfrm>
            <a:off x="1651000" y="4267200"/>
            <a:ext cx="952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Segoe UI"/>
                <a:cs typeface="Segoe UI"/>
              </a:rPr>
              <a:t>GPT-5-mini (</a:t>
            </a:r>
            <a:r>
              <a:rPr lang="en-US" sz="2000" b="1" dirty="0" err="1">
                <a:solidFill>
                  <a:srgbClr val="FFFFFF"/>
                </a:solidFill>
                <a:latin typeface="Segoe UI"/>
                <a:cs typeface="Segoe UI"/>
              </a:rPr>
              <a:t>incluso</a:t>
            </a:r>
            <a:r>
              <a:rPr lang="en-US" sz="2000" b="1" dirty="0">
                <a:solidFill>
                  <a:srgbClr val="FFFFFF"/>
                </a:solidFill>
                <a:latin typeface="Segoe UI"/>
                <a:cs typeface="Segoe UI"/>
              </a:rPr>
              <a:t> no plano </a:t>
            </a:r>
            <a:r>
              <a:rPr lang="en-US" sz="2000" b="1" dirty="0" err="1">
                <a:solidFill>
                  <a:srgbClr val="FFFFFF"/>
                </a:solidFill>
                <a:latin typeface="Segoe UI"/>
                <a:cs typeface="Segoe UI"/>
              </a:rPr>
              <a:t>gratuito</a:t>
            </a:r>
            <a:r>
              <a:rPr lang="en-US" sz="2000" b="1" dirty="0">
                <a:solidFill>
                  <a:srgbClr val="FFFFFF"/>
                </a:solidFill>
                <a:latin typeface="Segoe UI"/>
                <a:cs typeface="Segoe UI"/>
              </a:rPr>
              <a:t> e Pro)</a:t>
            </a:r>
            <a:endParaRPr lang="en-BR" sz="2000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8817BF-468F-C34B-96C4-4965DA5DCF7C}"/>
              </a:ext>
            </a:extLst>
          </p:cNvPr>
          <p:cNvSpPr txBox="1"/>
          <p:nvPr/>
        </p:nvSpPr>
        <p:spPr>
          <a:xfrm>
            <a:off x="1651000" y="4673600"/>
            <a:ext cx="952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B8E0"/>
                </a:solidFill>
                <a:latin typeface="Segoe UI"/>
                <a:cs typeface="Segoe UI"/>
              </a:rPr>
              <a:t>Mais que suficiente para o dia a dia</a:t>
            </a:r>
            <a:endParaRPr lang="en-BR" sz="1400">
              <a:solidFill>
                <a:srgbClr val="C9B8E0"/>
              </a:solidFill>
              <a:latin typeface="Segoe UI"/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AE7B55-0462-B545-9230-7C73064DC00D}"/>
              </a:ext>
            </a:extLst>
          </p:cNvPr>
          <p:cNvSpPr/>
          <p:nvPr/>
        </p:nvSpPr>
        <p:spPr>
          <a:xfrm>
            <a:off x="1016000" y="5359400"/>
            <a:ext cx="406400" cy="406400"/>
          </a:xfrm>
          <a:prstGeom prst="ellipse">
            <a:avLst/>
          </a:prstGeom>
          <a:solidFill>
            <a:srgbClr val="1F88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BR" b="1">
                <a:solidFill>
                  <a:srgbClr val="FFFFFF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082553-952F-C347-8629-BD28D0BC306F}"/>
              </a:ext>
            </a:extLst>
          </p:cNvPr>
          <p:cNvSpPr txBox="1"/>
          <p:nvPr/>
        </p:nvSpPr>
        <p:spPr>
          <a:xfrm>
            <a:off x="1651000" y="5257800"/>
            <a:ext cx="952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D166"/>
                </a:solidFill>
                <a:latin typeface="Segoe UI"/>
                <a:cs typeface="Segoe UI"/>
              </a:rPr>
              <a:t>Spec lidera. Código segue.</a:t>
            </a:r>
            <a:endParaRPr lang="en-BR" sz="2000" b="1">
              <a:solidFill>
                <a:srgbClr val="FFD166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292526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2A9B1E-9C71-DA4A-8D82-6C24D0E08E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08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54B8E-7614-BC42-AC7C-A0748B3BCD46}"/>
              </a:ext>
            </a:extLst>
          </p:cNvPr>
          <p:cNvSpPr txBox="1"/>
          <p:nvPr/>
        </p:nvSpPr>
        <p:spPr>
          <a:xfrm>
            <a:off x="762000" y="1397000"/>
            <a:ext cx="10668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6800" b="1" dirty="0">
                <a:solidFill>
                  <a:srgbClr val="E6EDF3"/>
                </a:solidFill>
                <a:latin typeface="Segoe UI"/>
              </a:rPr>
              <a:t>Obrigado! </a:t>
            </a:r>
            <a:r>
              <a:rPr lang="en-BR" sz="6800" b="1" dirty="0">
                <a:solidFill>
                  <a:srgbClr val="E6EDF3"/>
                </a:solidFill>
                <a:latin typeface="Segoe UI"/>
              </a:rPr>
              <a:t>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6A74FB-ACAE-5946-848A-897C3B2CF6D1}"/>
              </a:ext>
            </a:extLst>
          </p:cNvPr>
          <p:cNvSpPr/>
          <p:nvPr/>
        </p:nvSpPr>
        <p:spPr>
          <a:xfrm>
            <a:off x="5715000" y="2692400"/>
            <a:ext cx="1016000" cy="50800"/>
          </a:xfrm>
          <a:prstGeom prst="rect">
            <a:avLst/>
          </a:prstGeom>
          <a:solidFill>
            <a:srgbClr val="FFD1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1F60D1-15EA-F24F-BAFA-C764D8027593}"/>
              </a:ext>
            </a:extLst>
          </p:cNvPr>
          <p:cNvSpPr txBox="1"/>
          <p:nvPr/>
        </p:nvSpPr>
        <p:spPr>
          <a:xfrm>
            <a:off x="762000" y="3175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B8A2D9"/>
                </a:solidFill>
                <a:latin typeface="Segoe UI"/>
                <a:cs typeface="Segoe UI"/>
              </a:rPr>
              <a:t>Materiais da palestra</a:t>
            </a:r>
            <a:endParaRPr lang="en-BR" sz="1300">
              <a:solidFill>
                <a:srgbClr val="B8A2D9"/>
              </a:solidFill>
              <a:latin typeface="Segoe UI"/>
              <a:cs typeface="Segoe U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17CA64-102D-FE4E-91DA-B65923C0FFAA}"/>
              </a:ext>
            </a:extLst>
          </p:cNvPr>
          <p:cNvSpPr txBox="1"/>
          <p:nvPr/>
        </p:nvSpPr>
        <p:spPr>
          <a:xfrm>
            <a:off x="762000" y="35306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600" b="1">
                <a:solidFill>
                  <a:srgbClr val="B794E6"/>
                </a:solidFill>
                <a:latin typeface="Consolas"/>
                <a:cs typeface="Consolas"/>
              </a:rPr>
              <a:t>github.com/gbbigardi/meetup-itu-developers-spec-driven-design</a:t>
            </a:r>
            <a:endParaRPr lang="en-BR" sz="1600" b="1">
              <a:solidFill>
                <a:srgbClr val="B794E6"/>
              </a:solidFill>
              <a:latin typeface="Consolas"/>
              <a:cs typeface="Consola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7995B18-79EC-90FA-0EAD-FFE9880AF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00" y="4191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02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698684468]">
  <a:themeElements>
    <a:clrScheme name="Office">
      <a:dk1>
        <a:srgbClr val="FFFFFF"/>
      </a:dk1>
      <a:lt1>
        <a:srgbClr val="4A1F8E"/>
      </a:lt1>
      <a:dk2>
        <a:srgbClr val="2E1058"/>
      </a:dk2>
      <a:lt2>
        <a:srgbClr val="6B3FB3"/>
      </a:lt2>
      <a:accent1>
        <a:srgbClr val="FFFFFF"/>
      </a:accent1>
      <a:accent2>
        <a:srgbClr val="B794E6"/>
      </a:accent2>
      <a:accent3>
        <a:srgbClr val="1F883D"/>
      </a:accent3>
      <a:accent4>
        <a:srgbClr val="CF222E"/>
      </a:accent4>
      <a:accent5>
        <a:srgbClr val="FFD166"/>
      </a:accent5>
      <a:accent6>
        <a:srgbClr val="2E1058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75ADC08-A11D-5641-A262-20E1492023F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64233f5-0e08-4e7b-8835-ad7de850665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1630</Words>
  <Application>Microsoft Macintosh PowerPoint</Application>
  <PresentationFormat>Widescreen</PresentationFormat>
  <Paragraphs>319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Consolas</vt:lpstr>
      <vt:lpstr>Segoe UI</vt:lpstr>
      <vt:lpstr>Segoe UI Semibold</vt:lpstr>
      <vt:lpstr>Office Theme [1778698684468]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Bellini Bigardi</dc:creator>
  <cp:lastModifiedBy>Gustavo Bellini Bigardi</cp:lastModifiedBy>
  <cp:revision>5</cp:revision>
  <dcterms:created xsi:type="dcterms:W3CDTF">2026-05-13T17:06:21Z</dcterms:created>
  <dcterms:modified xsi:type="dcterms:W3CDTF">2026-05-13T19:14:35Z</dcterms:modified>
</cp:coreProperties>
</file>